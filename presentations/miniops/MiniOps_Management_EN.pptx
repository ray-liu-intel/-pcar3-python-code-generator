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a:t>
            </a:r>
          </a:p>
          <a:p>
            <a:r>
              <a:t>Talk track: Start with the management conclusion. We now have four task-specific tools: visual configuration generation, natural-language-to-.pcar assistance, DVS STIL preprocessing, and scan-pin checking. I want to separate two categories of statements very clearly. First, we have delivered tool capabilities that can be demonstrated and reproduced. Second, team-level efficiency, quality, and adoption outcomes still need pilot measurement before they should be claimed. So this presentation does not report hours saved, percentage improvement, or ROI. Those require equivalent-task baselines and review data.</a:t>
            </a:r>
          </a:p>
          <a:p/>
          <a:p>
            <a:r>
              <a:t>What is independently checked here: the current repository's Web UI features were verified by reading the local HTML implementation. The other three tool descriptions are based on public GitHub repository documentation rather than private systems or internal material.</a:t>
            </a:r>
          </a:p>
          <a:p/>
          <a:p>
            <a:r>
              <a:t>Sources:</a:t>
            </a:r>
          </a:p>
          <a:p>
            <a:r>
              <a:t>- https://github.com/Ray-Liu-intel/-PCAR3-Python-Code-Generator</a:t>
            </a:r>
          </a:p>
          <a:p>
            <a:r>
              <a:t>- https://github.com/Ray-Liu-intel/PCAR3-Natural-Language-to-Plist</a:t>
            </a:r>
          </a:p>
          <a:p>
            <a:r>
              <a:t>- https://github.com/Ray-Liu-intel/DVS-STIL-Preprocessor</a:t>
            </a:r>
          </a:p>
          <a:p>
            <a:r>
              <a:t>- https://github.com/Ray-Liu-intel/stil-scan-pin-checker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a:t>
            </a:r>
          </a:p>
          <a:p>
            <a:r>
              <a:t>Talk track: This slide explains why these tasks are good candidates for automation without overstating the business case. The point is not that we already measured a historical loss number. The point is that PLB structures, pattern modes, DVS trigger sequences, and scan-pin membership checks all have repeated, rule-based characteristics. That makes them suitable for tools. The role of the engineer does not disappear. Engineers still own requirement clarification, exceptions, and final acceptance. The tools simply move repeated rule execution into a more consistent form.</a:t>
            </a:r>
          </a:p>
          <a:p/>
          <a:p>
            <a:r>
              <a:t>Sources:</a:t>
            </a:r>
          </a:p>
          <a:p>
            <a:r>
              <a:t>- https://github.com/Ray-Liu-intel/-PCAR3-Python-Code-Generator/blob/main/README.md</a:t>
            </a:r>
          </a:p>
          <a:p>
            <a:r>
              <a:t>- https://github.com/Ray-Liu-intel/DVS-STIL-Preprocessor/blob/main/README.md</a:t>
            </a:r>
          </a:p>
          <a:p>
            <a:r>
              <a:t>- https://github.com/Ray-Liu-intel/stil-scan-pin-checker/blob/main/README.md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Talk track: This is the core slide, so I would walk through each tool briefly but precisely. First, the current repository's Web UI was verified from the local HTML implementation and does contain loop partition, if/elif/else support, drag-and-drop behavior, and localStorage save/restore logic. Second, the natural-language skill's public documentation says it can generate .pcar and, when FLASH MCP is available, continue with pattern resolution, build submission, status polling, and real Pat-content verification. I am presenting that as a documented deliverable capability from the public repository, not as an external build independently executed in this environment. The DVS and scan-pin items follow the same pattern: shipped rules and tooling are the current deliverable; business outcome still requires pilot measurement.</a:t>
            </a:r>
          </a:p>
          <a:p/>
          <a:p>
            <a:r>
              <a:t>Sources:</a:t>
            </a:r>
          </a:p>
          <a:p>
            <a:r>
              <a:t>- https://github.com/Ray-Liu-intel/-PCAR3-Python-Code-Generator/blob/main/Core%20Code2.0.HTML</a:t>
            </a:r>
          </a:p>
          <a:p>
            <a:r>
              <a:t>- https://github.com/Ray-Liu-intel/PCAR3-Natural-Language-to-Plist/blob/main/README.md</a:t>
            </a:r>
          </a:p>
          <a:p>
            <a:r>
              <a:t>- https://github.com/Ray-Liu-intel/DVS-STIL-Preprocessor/blob/main/README.md</a:t>
            </a:r>
          </a:p>
          <a:p>
            <a:r>
              <a:t>- https://github.com/Ray-Liu-intel/stil-scan-pin-checker/blob/main/README.md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Talk track: This slide is mainly about control and boundaries. Management usually wants to know whether the risks are framed clearly. The DVS tool focuses on input protection and explicit rejection of bad or already processed input. The PList-related flow emphasizes that completion status alone is not enough; the artifact still needs content verification. The scan-pin checker makes its scope explicit: it is a membership check, not a broader signoff for timing or tester execution. In the notes I also want to name the four result states so there is no ambiguity: PASS means data pins were found and all are in the allowed union; FAIL means at least one declared data pin is outside it; UNDETERMINED means no declared data pins were found; ERROR means configuration, parsing, or file-read failure.</a:t>
            </a:r>
          </a:p>
          <a:p/>
          <a:p>
            <a:r>
              <a:t>Sources:</a:t>
            </a:r>
          </a:p>
          <a:p>
            <a:r>
              <a:t>- https://github.com/Ray-Liu-intel/PCAR3-Natural-Language-to-Plist/blob/main/README.md</a:t>
            </a:r>
          </a:p>
          <a:p>
            <a:r>
              <a:t>- https://github.com/Ray-Liu-intel/DVS-STIL-Preprocessor/blob/main/README.md</a:t>
            </a:r>
          </a:p>
          <a:p>
            <a:r>
              <a:t>- https://github.com/Ray-Liu-intel/stil-scan-pin-checker/blob/main/README.md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Talk track: This slide answers the management question, how should value be measured. To avoid distorted conclusions, I recommend tracking efficiency, quality, adoption, and cost separately. Efficiency should be based on full task flow, not just script runtime, and should include preparation, review, and correction. Quality should capture misses, false alarms, and rework causes, not just successful output generation. Adoption should distinguish the author's own use from independent team use. Cost should include maintenance, training, and review effort. Only after those dimensions are visible should we decide whether the tools deserve a wider rollout.</a:t>
            </a:r>
          </a:p>
          <a:p/>
          <a:p>
            <a:r>
              <a:t>Sources:</a:t>
            </a:r>
          </a:p>
          <a:p>
            <a:r>
              <a:t>- https://github.com/Ray-Liu-intel/-PCAR3-Python-Code-Generator</a:t>
            </a:r>
          </a:p>
          <a:p>
            <a:r>
              <a:t>- https://github.com/Ray-Liu-intel/PCAR3-Natural-Language-to-Plist</a:t>
            </a:r>
          </a:p>
          <a:p>
            <a:r>
              <a:t>- https://github.com/Ray-Liu-intel/DVS-STIL-Preprocessor</a:t>
            </a:r>
          </a:p>
          <a:p>
            <a:r>
              <a:t>- https://github.com/Ray-Liu-intel/stil-scan-pin-checker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a:t>
            </a:r>
          </a:p>
          <a:p>
            <a:r>
              <a:t>Talk track: The final ask is intentionally small and practical. Rather than trying to scale immediately, I recommend a limited pilot on stable-rule, high-frequency tasks with named pilot and acceptance owners. The examples should be approved synthetic or sanitized data only. During the pilot, capture the manual baseline, tool-assisted results, exceptions, and rework causes. Then hold a results review and decide whether a broader next phase is justified. That gives management a lower-risk way to validate value before further investment.</a:t>
            </a:r>
          </a:p>
          <a:p/>
          <a:p>
            <a:r>
              <a:t>Sources:</a:t>
            </a:r>
          </a:p>
          <a:p>
            <a:r>
              <a:t>- https://github.com/Ray-Liu-intel/-PCAR3-Python-Code-Generator</a:t>
            </a:r>
          </a:p>
          <a:p>
            <a:r>
              <a:t>- https://github.com/Ray-Liu-intel/PCAR3-Natural-Language-to-Plist</a:t>
            </a:r>
          </a:p>
          <a:p>
            <a:r>
              <a:t>- https://github.com/Ray-Liu-intel/DVS-STIL-Preprocessor</a:t>
            </a:r>
          </a:p>
          <a:p>
            <a:r>
              <a:t>- https://github.com/Ray-Liu-intel/stil-scan-pin-checker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09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91695"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7223760" cy="320040"/>
          </a:xfrm>
          <a:prstGeom prst="rect">
            <a:avLst/>
          </a:prstGeom>
          <a:noFill/>
        </p:spPr>
        <p:txBody>
          <a:bodyPr wrap="square" anchor="t" rIns="73152" tIns="36576" bIns="18288">
            <a:spAutoFit/>
          </a:bodyPr>
          <a:lstStyle/>
          <a:p>
            <a:pPr algn="l">
              <a:lnSpc>
                <a:spcPct val="108000"/>
              </a:lnSpc>
              <a:spcAft>
                <a:spcPts val="150"/>
              </a:spcAft>
            </a:pPr>
            <a:r>
              <a:rPr sz="2400" b="1">
                <a:solidFill>
                  <a:srgbClr val="FFFFFF"/>
                </a:solidFill>
                <a:latin typeface="Aptos"/>
              </a:rPr>
              <a:t>Test Engineering Automation: Deliverables and Business Value</a:t>
            </a:r>
          </a:p>
        </p:txBody>
      </p:sp>
      <p:sp>
        <p:nvSpPr>
          <p:cNvPr id="5" name="TextBox 4"/>
          <p:cNvSpPr txBox="1"/>
          <p:nvPr/>
        </p:nvSpPr>
        <p:spPr>
          <a:xfrm>
            <a:off x="521207" y="429768"/>
            <a:ext cx="7406640" cy="182880"/>
          </a:xfrm>
          <a:prstGeom prst="rect">
            <a:avLst/>
          </a:prstGeom>
          <a:noFill/>
        </p:spPr>
        <p:txBody>
          <a:bodyPr wrap="square" anchor="t" rIns="73152" tIns="36576" bIns="18288">
            <a:spAutoFit/>
          </a:bodyPr>
          <a:lstStyle/>
          <a:p>
            <a:pPr algn="l">
              <a:lnSpc>
                <a:spcPct val="108000"/>
              </a:lnSpc>
              <a:spcAft>
                <a:spcPts val="150"/>
              </a:spcAft>
            </a:pPr>
            <a:r>
              <a:rPr sz="1050" b="0">
                <a:solidFill>
                  <a:srgbClr val="DCE9F7"/>
                </a:solidFill>
                <a:latin typeface="Aptos"/>
              </a:rPr>
              <a:t>MiniOps management presentation | 10 minutes | editable bilingual deliverables</a:t>
            </a:r>
          </a:p>
        </p:txBody>
      </p:sp>
      <p:sp>
        <p:nvSpPr>
          <p:cNvPr id="6" name="Rectangle 5"/>
          <p:cNvSpPr/>
          <p:nvPr/>
        </p:nvSpPr>
        <p:spPr>
          <a:xfrm>
            <a:off x="502920" y="6419088"/>
            <a:ext cx="11155680" cy="18288"/>
          </a:xfrm>
          <a:prstGeom prst="rect">
            <a:avLst/>
          </a:prstGeom>
          <a:solidFill>
            <a:srgbClr val="C0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46520"/>
            <a:ext cx="3840480" cy="164592"/>
          </a:xfrm>
          <a:prstGeom prst="rect">
            <a:avLst/>
          </a:prstGeom>
          <a:noFill/>
        </p:spPr>
        <p:txBody>
          <a:bodyPr wrap="square" anchor="t" rIns="73152" tIns="36576" bIns="18288">
            <a:spAutoFit/>
          </a:bodyPr>
          <a:lstStyle/>
          <a:p>
            <a:pPr algn="l">
              <a:lnSpc>
                <a:spcPct val="108000"/>
              </a:lnSpc>
              <a:spcAft>
                <a:spcPts val="150"/>
              </a:spcAft>
            </a:pPr>
            <a:r>
              <a:rPr sz="900" b="0">
                <a:solidFill>
                  <a:srgbClr val="5A6573"/>
                </a:solidFill>
                <a:latin typeface="Aptos"/>
              </a:rPr>
              <a:t>Ray Liu | September 2026</a:t>
            </a:r>
          </a:p>
        </p:txBody>
      </p:sp>
      <p:sp>
        <p:nvSpPr>
          <p:cNvPr id="8" name="TextBox 7"/>
          <p:cNvSpPr txBox="1"/>
          <p:nvPr/>
        </p:nvSpPr>
        <p:spPr>
          <a:xfrm>
            <a:off x="10424160" y="6446520"/>
            <a:ext cx="1005840" cy="164592"/>
          </a:xfrm>
          <a:prstGeom prst="rect">
            <a:avLst/>
          </a:prstGeom>
          <a:noFill/>
        </p:spPr>
        <p:txBody>
          <a:bodyPr wrap="square" anchor="t" rIns="73152" tIns="36576" bIns="18288">
            <a:spAutoFit/>
          </a:bodyPr>
          <a:lstStyle/>
          <a:p>
            <a:pPr algn="r">
              <a:lnSpc>
                <a:spcPct val="108000"/>
              </a:lnSpc>
              <a:spcAft>
                <a:spcPts val="150"/>
              </a:spcAft>
            </a:pPr>
            <a:r>
              <a:rPr sz="900" b="0">
                <a:solidFill>
                  <a:srgbClr val="5A6573"/>
                </a:solidFill>
                <a:latin typeface="Aptos"/>
              </a:rPr>
              <a:t>1</a:t>
            </a:r>
          </a:p>
        </p:txBody>
      </p:sp>
      <p:sp>
        <p:nvSpPr>
          <p:cNvPr id="9" name="Rounded Rectangle 8"/>
          <p:cNvSpPr/>
          <p:nvPr/>
        </p:nvSpPr>
        <p:spPr>
          <a:xfrm>
            <a:off x="594360" y="960120"/>
            <a:ext cx="10972800" cy="566928"/>
          </a:xfrm>
          <a:prstGeom prst="roundRect">
            <a:avLst/>
          </a:prstGeom>
          <a:solidFill>
            <a:srgbClr val="EAF4FF"/>
          </a:solidFill>
          <a:ln w="1270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042416"/>
            <a:ext cx="10652760" cy="384048"/>
          </a:xfrm>
          <a:prstGeom prst="rect">
            <a:avLst/>
          </a:prstGeom>
          <a:noFill/>
        </p:spPr>
        <p:txBody>
          <a:bodyPr wrap="square" anchor="t" rIns="73152" tIns="36576" bIns="18288">
            <a:spAutoFit/>
          </a:bodyPr>
          <a:lstStyle/>
          <a:p>
            <a:pPr algn="ctr">
              <a:lnSpc>
                <a:spcPct val="108000"/>
              </a:lnSpc>
              <a:spcAft>
                <a:spcPts val="150"/>
              </a:spcAft>
            </a:pPr>
            <a:r>
              <a:rPr sz="1400" b="1">
                <a:solidFill>
                  <a:srgbClr val="092540"/>
                </a:solidFill>
                <a:latin typeface="Aptos"/>
              </a:rPr>
              <a:t>Four tools are delivered; the next step is to validate team-level value rather than claim benefit numbers early.</a:t>
            </a:r>
          </a:p>
        </p:txBody>
      </p:sp>
      <p:sp>
        <p:nvSpPr>
          <p:cNvPr id="11" name="Rounded Rectangle 10"/>
          <p:cNvSpPr/>
          <p:nvPr/>
        </p:nvSpPr>
        <p:spPr>
          <a:xfrm>
            <a:off x="658368" y="1783080"/>
            <a:ext cx="5285232" cy="17830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783080"/>
            <a:ext cx="5285232"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892808"/>
            <a:ext cx="5138928" cy="329184"/>
          </a:xfrm>
          <a:prstGeom prst="rect">
            <a:avLst/>
          </a:prstGeom>
          <a:noFill/>
        </p:spPr>
        <p:txBody>
          <a:bodyPr wrap="square" anchor="t" rIns="73152" tIns="36576" bIns="18288">
            <a:spAutoFit/>
          </a:bodyPr>
          <a:lstStyle/>
          <a:p>
            <a:pPr algn="l">
              <a:lnSpc>
                <a:spcPct val="108000"/>
              </a:lnSpc>
              <a:spcAft>
                <a:spcPts val="150"/>
              </a:spcAft>
            </a:pPr>
            <a:r>
              <a:rPr sz="1450" b="1">
                <a:solidFill>
                  <a:srgbClr val="092540"/>
                </a:solidFill>
                <a:latin typeface="Aptos"/>
              </a:rPr>
              <a:t>Visual configuration generation</a:t>
            </a:r>
          </a:p>
        </p:txBody>
      </p:sp>
      <p:sp>
        <p:nvSpPr>
          <p:cNvPr id="14" name="TextBox 13"/>
          <p:cNvSpPr txBox="1"/>
          <p:nvPr/>
        </p:nvSpPr>
        <p:spPr>
          <a:xfrm>
            <a:off x="749808" y="2240280"/>
            <a:ext cx="5102352" cy="1252728"/>
          </a:xfrm>
          <a:prstGeom prst="rect">
            <a:avLst/>
          </a:prstGeom>
          <a:noFill/>
        </p:spPr>
        <p:txBody>
          <a:bodyPr wrap="square" anchor="t" rIns="73152" tIns="36576" bIns="18288">
            <a:spAutoFit/>
          </a:bodyPr>
          <a:lstStyle/>
          <a:p>
            <a:pPr algn="l">
              <a:lnSpc>
                <a:spcPct val="103000"/>
              </a:lnSpc>
              <a:spcAft>
                <a:spcPts val="150"/>
              </a:spcAft>
            </a:pPr>
            <a:r>
              <a:rPr sz="1150" b="0">
                <a:solidFill>
                  <a:srgbClr val="1E293B"/>
                </a:solidFill>
                <a:latin typeface="Aptos"/>
              </a:rPr>
              <a:t>PCAR3 Web UI generates Python configuration</a:t>
            </a:r>
          </a:p>
          <a:p>
            <a:pPr algn="l">
              <a:lnSpc>
                <a:spcPct val="103000"/>
              </a:lnSpc>
              <a:spcAft>
                <a:spcPts val="150"/>
              </a:spcAft>
            </a:pPr>
            <a:r>
              <a:rPr sz="1150" b="0">
                <a:solidFill>
                  <a:srgbClr val="1E293B"/>
                </a:solidFill>
                <a:latin typeface="Aptos"/>
              </a:rPr>
              <a:t>Supports multiple PLBs, Loop Partition, and conditional structures</a:t>
            </a:r>
          </a:p>
        </p:txBody>
      </p:sp>
      <p:sp>
        <p:nvSpPr>
          <p:cNvPr id="15" name="Rounded Rectangle 14"/>
          <p:cNvSpPr/>
          <p:nvPr/>
        </p:nvSpPr>
        <p:spPr>
          <a:xfrm>
            <a:off x="6245352" y="1783080"/>
            <a:ext cx="5285232" cy="17830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5352" y="1783080"/>
            <a:ext cx="5285232"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892808"/>
            <a:ext cx="5138928" cy="329184"/>
          </a:xfrm>
          <a:prstGeom prst="rect">
            <a:avLst/>
          </a:prstGeom>
          <a:noFill/>
        </p:spPr>
        <p:txBody>
          <a:bodyPr wrap="square" anchor="t" rIns="73152" tIns="36576" bIns="18288">
            <a:spAutoFit/>
          </a:bodyPr>
          <a:lstStyle/>
          <a:p>
            <a:pPr algn="l">
              <a:lnSpc>
                <a:spcPct val="108000"/>
              </a:lnSpc>
              <a:spcAft>
                <a:spcPts val="150"/>
              </a:spcAft>
            </a:pPr>
            <a:r>
              <a:rPr sz="1450" b="1">
                <a:solidFill>
                  <a:srgbClr val="092540"/>
                </a:solidFill>
                <a:latin typeface="Aptos"/>
              </a:rPr>
              <a:t>Natural language / build assistance</a:t>
            </a:r>
          </a:p>
        </p:txBody>
      </p:sp>
      <p:sp>
        <p:nvSpPr>
          <p:cNvPr id="18" name="TextBox 17"/>
          <p:cNvSpPr txBox="1"/>
          <p:nvPr/>
        </p:nvSpPr>
        <p:spPr>
          <a:xfrm>
            <a:off x="6336792" y="2240280"/>
            <a:ext cx="5102352" cy="1252728"/>
          </a:xfrm>
          <a:prstGeom prst="rect">
            <a:avLst/>
          </a:prstGeom>
          <a:noFill/>
        </p:spPr>
        <p:txBody>
          <a:bodyPr wrap="square" anchor="t" rIns="73152" tIns="36576" bIns="18288">
            <a:spAutoFit/>
          </a:bodyPr>
          <a:lstStyle/>
          <a:p>
            <a:pPr algn="l">
              <a:lnSpc>
                <a:spcPct val="103000"/>
              </a:lnSpc>
              <a:spcAft>
                <a:spcPts val="150"/>
              </a:spcAft>
            </a:pPr>
            <a:r>
              <a:rPr sz="1150" b="0">
                <a:solidFill>
                  <a:srgbClr val="1E293B"/>
                </a:solidFill>
                <a:latin typeface="Aptos"/>
              </a:rPr>
              <a:t>Copilot Skill generates .pcar</a:t>
            </a:r>
          </a:p>
          <a:p>
            <a:pPr algn="l">
              <a:lnSpc>
                <a:spcPct val="103000"/>
              </a:lnSpc>
              <a:spcAft>
                <a:spcPts val="150"/>
              </a:spcAft>
            </a:pPr>
            <a:r>
              <a:rPr sz="1150" b="0">
                <a:solidFill>
                  <a:srgbClr val="1E293B"/>
                </a:solidFill>
                <a:latin typeface="Aptos"/>
              </a:rPr>
              <a:t>Can optionally resolve patterns, submit builds, and verify real Pat output</a:t>
            </a:r>
          </a:p>
        </p:txBody>
      </p:sp>
      <p:sp>
        <p:nvSpPr>
          <p:cNvPr id="19" name="Rounded Rectangle 18"/>
          <p:cNvSpPr/>
          <p:nvPr/>
        </p:nvSpPr>
        <p:spPr>
          <a:xfrm>
            <a:off x="658368" y="3840480"/>
            <a:ext cx="5285232" cy="17830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3840480"/>
            <a:ext cx="5285232"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0208"/>
            <a:ext cx="5138928" cy="329184"/>
          </a:xfrm>
          <a:prstGeom prst="rect">
            <a:avLst/>
          </a:prstGeom>
          <a:noFill/>
        </p:spPr>
        <p:txBody>
          <a:bodyPr wrap="square" anchor="t" rIns="73152" tIns="36576" bIns="18288">
            <a:spAutoFit/>
          </a:bodyPr>
          <a:lstStyle/>
          <a:p>
            <a:pPr algn="l">
              <a:lnSpc>
                <a:spcPct val="108000"/>
              </a:lnSpc>
              <a:spcAft>
                <a:spcPts val="150"/>
              </a:spcAft>
            </a:pPr>
            <a:r>
              <a:rPr sz="1450" b="1">
                <a:solidFill>
                  <a:srgbClr val="092540"/>
                </a:solidFill>
                <a:latin typeface="Aptos"/>
              </a:rPr>
              <a:t>DVS preprocessing</a:t>
            </a:r>
          </a:p>
        </p:txBody>
      </p:sp>
      <p:sp>
        <p:nvSpPr>
          <p:cNvPr id="22" name="TextBox 21"/>
          <p:cNvSpPr txBox="1"/>
          <p:nvPr/>
        </p:nvSpPr>
        <p:spPr>
          <a:xfrm>
            <a:off x="749808" y="4297680"/>
            <a:ext cx="5102352" cy="1252728"/>
          </a:xfrm>
          <a:prstGeom prst="rect">
            <a:avLst/>
          </a:prstGeom>
          <a:noFill/>
        </p:spPr>
        <p:txBody>
          <a:bodyPr wrap="square" anchor="t" rIns="73152" tIns="36576" bIns="18288">
            <a:spAutoFit/>
          </a:bodyPr>
          <a:lstStyle/>
          <a:p>
            <a:pPr algn="l">
              <a:lnSpc>
                <a:spcPct val="103000"/>
              </a:lnSpc>
              <a:spcAft>
                <a:spcPts val="150"/>
              </a:spcAft>
            </a:pPr>
            <a:r>
              <a:rPr sz="1150" b="0">
                <a:solidFill>
                  <a:srgbClr val="1E293B"/>
                </a:solidFill>
                <a:latin typeface="Aptos"/>
              </a:rPr>
              <a:t>CLI / Skill expands 16 trigger blocks</a:t>
            </a:r>
          </a:p>
          <a:p>
            <a:pPr algn="l">
              <a:lnSpc>
                <a:spcPct val="103000"/>
              </a:lnSpc>
              <a:spcAft>
                <a:spcPts val="150"/>
              </a:spcAft>
            </a:pPr>
            <a:r>
              <a:rPr sz="1150" b="0">
                <a:solidFill>
                  <a:srgbClr val="1E293B"/>
                </a:solidFill>
                <a:latin typeface="Aptos"/>
              </a:rPr>
              <a:t>Supports CCD / IOD / DRD while preserving source files</a:t>
            </a:r>
          </a:p>
        </p:txBody>
      </p:sp>
      <p:sp>
        <p:nvSpPr>
          <p:cNvPr id="23" name="Rounded Rectangle 22"/>
          <p:cNvSpPr/>
          <p:nvPr/>
        </p:nvSpPr>
        <p:spPr>
          <a:xfrm>
            <a:off x="6245352" y="3840480"/>
            <a:ext cx="5285232" cy="17830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5352" y="3840480"/>
            <a:ext cx="5285232"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8504" y="3950208"/>
            <a:ext cx="5138928" cy="329184"/>
          </a:xfrm>
          <a:prstGeom prst="rect">
            <a:avLst/>
          </a:prstGeom>
          <a:noFill/>
        </p:spPr>
        <p:txBody>
          <a:bodyPr wrap="square" anchor="t" rIns="73152" tIns="36576" bIns="18288">
            <a:spAutoFit/>
          </a:bodyPr>
          <a:lstStyle/>
          <a:p>
            <a:pPr algn="l">
              <a:lnSpc>
                <a:spcPct val="108000"/>
              </a:lnSpc>
              <a:spcAft>
                <a:spcPts val="150"/>
              </a:spcAft>
            </a:pPr>
            <a:r>
              <a:rPr sz="1450" b="1">
                <a:solidFill>
                  <a:srgbClr val="092540"/>
                </a:solidFill>
                <a:latin typeface="Aptos"/>
              </a:rPr>
              <a:t>Scan pin checking</a:t>
            </a:r>
          </a:p>
        </p:txBody>
      </p:sp>
      <p:sp>
        <p:nvSpPr>
          <p:cNvPr id="26" name="TextBox 25"/>
          <p:cNvSpPr txBox="1"/>
          <p:nvPr/>
        </p:nvSpPr>
        <p:spPr>
          <a:xfrm>
            <a:off x="6336792" y="4297680"/>
            <a:ext cx="5102352" cy="1252728"/>
          </a:xfrm>
          <a:prstGeom prst="rect">
            <a:avLst/>
          </a:prstGeom>
          <a:noFill/>
        </p:spPr>
        <p:txBody>
          <a:bodyPr wrap="square" anchor="t" rIns="73152" tIns="36576" bIns="18288">
            <a:spAutoFit/>
          </a:bodyPr>
          <a:lstStyle/>
          <a:p>
            <a:pPr algn="l">
              <a:lnSpc>
                <a:spcPct val="103000"/>
              </a:lnSpc>
              <a:spcAft>
                <a:spcPts val="150"/>
              </a:spcAft>
            </a:pPr>
            <a:r>
              <a:rPr sz="1150" b="0">
                <a:solidFill>
                  <a:srgbClr val="1E293B"/>
                </a:solidFill>
                <a:latin typeface="Aptos"/>
              </a:rPr>
              <a:t>Read-only extraction of ScanIn / ScanOut</a:t>
            </a:r>
          </a:p>
          <a:p>
            <a:pPr algn="l">
              <a:lnSpc>
                <a:spcPct val="103000"/>
              </a:lnSpc>
              <a:spcAft>
                <a:spcPts val="150"/>
              </a:spcAft>
            </a:pPr>
            <a:r>
              <a:rPr sz="1150" b="0">
                <a:solidFill>
                  <a:srgbClr val="1E293B"/>
                </a:solidFill>
                <a:latin typeface="Aptos"/>
              </a:rPr>
              <a:t>Produces traceable JSON output for human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09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91695"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7223760" cy="320040"/>
          </a:xfrm>
          <a:prstGeom prst="rect">
            <a:avLst/>
          </a:prstGeom>
          <a:noFill/>
        </p:spPr>
        <p:txBody>
          <a:bodyPr wrap="square" anchor="t" rIns="73152" tIns="36576" bIns="18288">
            <a:spAutoFit/>
          </a:bodyPr>
          <a:lstStyle/>
          <a:p>
            <a:pPr algn="l">
              <a:lnSpc>
                <a:spcPct val="108000"/>
              </a:lnSpc>
              <a:spcAft>
                <a:spcPts val="150"/>
              </a:spcAft>
            </a:pPr>
            <a:r>
              <a:rPr sz="2400" b="1">
                <a:solidFill>
                  <a:srgbClr val="FFFFFF"/>
                </a:solidFill>
                <a:latin typeface="Aptos"/>
              </a:rPr>
              <a:t>Problems Addressed</a:t>
            </a:r>
          </a:p>
        </p:txBody>
      </p:sp>
      <p:sp>
        <p:nvSpPr>
          <p:cNvPr id="5" name="TextBox 4"/>
          <p:cNvSpPr txBox="1"/>
          <p:nvPr/>
        </p:nvSpPr>
        <p:spPr>
          <a:xfrm>
            <a:off x="521207" y="429768"/>
            <a:ext cx="7406640" cy="182880"/>
          </a:xfrm>
          <a:prstGeom prst="rect">
            <a:avLst/>
          </a:prstGeom>
          <a:noFill/>
        </p:spPr>
        <p:txBody>
          <a:bodyPr wrap="square" anchor="t" rIns="73152" tIns="36576" bIns="18288">
            <a:spAutoFit/>
          </a:bodyPr>
          <a:lstStyle/>
          <a:p>
            <a:pPr algn="l">
              <a:lnSpc>
                <a:spcPct val="108000"/>
              </a:lnSpc>
              <a:spcAft>
                <a:spcPts val="150"/>
              </a:spcAft>
            </a:pPr>
            <a:r>
              <a:rPr sz="1050" b="0">
                <a:solidFill>
                  <a:srgbClr val="DCE9F7"/>
                </a:solidFill>
                <a:latin typeface="Aptos"/>
              </a:rPr>
              <a:t>Turn repeated rule-heavy work into more consistent and reviewable execution</a:t>
            </a:r>
          </a:p>
        </p:txBody>
      </p:sp>
      <p:sp>
        <p:nvSpPr>
          <p:cNvPr id="6" name="Rectangle 5"/>
          <p:cNvSpPr/>
          <p:nvPr/>
        </p:nvSpPr>
        <p:spPr>
          <a:xfrm>
            <a:off x="502920" y="6419088"/>
            <a:ext cx="11155680" cy="18288"/>
          </a:xfrm>
          <a:prstGeom prst="rect">
            <a:avLst/>
          </a:prstGeom>
          <a:solidFill>
            <a:srgbClr val="C0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46520"/>
            <a:ext cx="3840480" cy="164592"/>
          </a:xfrm>
          <a:prstGeom prst="rect">
            <a:avLst/>
          </a:prstGeom>
          <a:noFill/>
        </p:spPr>
        <p:txBody>
          <a:bodyPr wrap="square" anchor="t" rIns="73152" tIns="36576" bIns="18288">
            <a:spAutoFit/>
          </a:bodyPr>
          <a:lstStyle/>
          <a:p>
            <a:pPr algn="l">
              <a:lnSpc>
                <a:spcPct val="108000"/>
              </a:lnSpc>
              <a:spcAft>
                <a:spcPts val="150"/>
              </a:spcAft>
            </a:pPr>
            <a:r>
              <a:rPr sz="900" b="0">
                <a:solidFill>
                  <a:srgbClr val="5A6573"/>
                </a:solidFill>
                <a:latin typeface="Aptos"/>
              </a:rPr>
              <a:t>Ray Liu | September 2026</a:t>
            </a:r>
          </a:p>
        </p:txBody>
      </p:sp>
      <p:sp>
        <p:nvSpPr>
          <p:cNvPr id="8" name="TextBox 7"/>
          <p:cNvSpPr txBox="1"/>
          <p:nvPr/>
        </p:nvSpPr>
        <p:spPr>
          <a:xfrm>
            <a:off x="10424160" y="6446520"/>
            <a:ext cx="1005840" cy="164592"/>
          </a:xfrm>
          <a:prstGeom prst="rect">
            <a:avLst/>
          </a:prstGeom>
          <a:noFill/>
        </p:spPr>
        <p:txBody>
          <a:bodyPr wrap="square" anchor="t" rIns="73152" tIns="36576" bIns="18288">
            <a:spAutoFit/>
          </a:bodyPr>
          <a:lstStyle/>
          <a:p>
            <a:pPr algn="r">
              <a:lnSpc>
                <a:spcPct val="108000"/>
              </a:lnSpc>
              <a:spcAft>
                <a:spcPts val="150"/>
              </a:spcAft>
            </a:pPr>
            <a:r>
              <a:rPr sz="900" b="0">
                <a:solidFill>
                  <a:srgbClr val="5A6573"/>
                </a:solidFill>
                <a:latin typeface="Aptos"/>
              </a:rPr>
              <a:t>2</a:t>
            </a:r>
          </a:p>
        </p:txBody>
      </p:sp>
      <p:sp>
        <p:nvSpPr>
          <p:cNvPr id="9" name="Rounded Rectangle 8"/>
          <p:cNvSpPr/>
          <p:nvPr/>
        </p:nvSpPr>
        <p:spPr>
          <a:xfrm>
            <a:off x="658368" y="1417320"/>
            <a:ext cx="2761488" cy="4315968"/>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417320"/>
            <a:ext cx="2761488"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527048"/>
            <a:ext cx="2615184" cy="329184"/>
          </a:xfrm>
          <a:prstGeom prst="rect">
            <a:avLst/>
          </a:prstGeom>
          <a:noFill/>
        </p:spPr>
        <p:txBody>
          <a:bodyPr wrap="square" anchor="t" rIns="73152" tIns="36576" bIns="18288">
            <a:spAutoFit/>
          </a:bodyPr>
          <a:lstStyle/>
          <a:p>
            <a:pPr algn="l">
              <a:lnSpc>
                <a:spcPct val="108000"/>
              </a:lnSpc>
              <a:spcAft>
                <a:spcPts val="150"/>
              </a:spcAft>
            </a:pPr>
            <a:r>
              <a:rPr sz="1400" b="1">
                <a:solidFill>
                  <a:srgbClr val="092540"/>
                </a:solidFill>
                <a:latin typeface="Aptos"/>
              </a:rPr>
              <a:t>Repeated configuration work</a:t>
            </a:r>
          </a:p>
        </p:txBody>
      </p:sp>
      <p:sp>
        <p:nvSpPr>
          <p:cNvPr id="12" name="TextBox 11"/>
          <p:cNvSpPr txBox="1"/>
          <p:nvPr/>
        </p:nvSpPr>
        <p:spPr>
          <a:xfrm>
            <a:off x="749808" y="1874520"/>
            <a:ext cx="2578608" cy="3785616"/>
          </a:xfrm>
          <a:prstGeom prst="rect">
            <a:avLst/>
          </a:prstGeom>
          <a:noFill/>
        </p:spPr>
        <p:txBody>
          <a:bodyPr wrap="square" anchor="t" rIns="73152" tIns="36576" bIns="18288">
            <a:spAutoFit/>
          </a:bodyPr>
          <a:lstStyle/>
          <a:p>
            <a:pPr algn="l">
              <a:lnSpc>
                <a:spcPct val="103000"/>
              </a:lnSpc>
              <a:spcAft>
                <a:spcPts val="150"/>
              </a:spcAft>
            </a:pPr>
            <a:r>
              <a:rPr sz="1120" b="0">
                <a:solidFill>
                  <a:srgbClr val="1E293B"/>
                </a:solidFill>
                <a:latin typeface="Aptos"/>
              </a:rPr>
              <a:t>Repeated PLB / pattern / conditional setup</a:t>
            </a:r>
          </a:p>
          <a:p>
            <a:pPr algn="l">
              <a:lnSpc>
                <a:spcPct val="103000"/>
              </a:lnSpc>
              <a:spcAft>
                <a:spcPts val="150"/>
              </a:spcAft>
            </a:pPr>
            <a:r>
              <a:rPr sz="1120" b="0">
                <a:solidFill>
                  <a:srgbClr val="1E293B"/>
                </a:solidFill>
                <a:latin typeface="Aptos"/>
              </a:rPr>
              <a:t>Approach: visual or natural-language generation to reduce repeated structuring</a:t>
            </a:r>
          </a:p>
        </p:txBody>
      </p:sp>
      <p:sp>
        <p:nvSpPr>
          <p:cNvPr id="13" name="Rounded Rectangle 12"/>
          <p:cNvSpPr/>
          <p:nvPr/>
        </p:nvSpPr>
        <p:spPr>
          <a:xfrm>
            <a:off x="3995928" y="1417320"/>
            <a:ext cx="2761488" cy="4315968"/>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95928" y="1417320"/>
            <a:ext cx="2761488"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527048"/>
            <a:ext cx="2615184" cy="329184"/>
          </a:xfrm>
          <a:prstGeom prst="rect">
            <a:avLst/>
          </a:prstGeom>
          <a:noFill/>
        </p:spPr>
        <p:txBody>
          <a:bodyPr wrap="square" anchor="t" rIns="73152" tIns="36576" bIns="18288">
            <a:spAutoFit/>
          </a:bodyPr>
          <a:lstStyle/>
          <a:p>
            <a:pPr algn="l">
              <a:lnSpc>
                <a:spcPct val="108000"/>
              </a:lnSpc>
              <a:spcAft>
                <a:spcPts val="150"/>
              </a:spcAft>
            </a:pPr>
            <a:r>
              <a:rPr sz="1400" b="1">
                <a:solidFill>
                  <a:srgbClr val="092540"/>
                </a:solidFill>
                <a:latin typeface="Aptos"/>
              </a:rPr>
              <a:t>Complex rule execution</a:t>
            </a:r>
          </a:p>
        </p:txBody>
      </p:sp>
      <p:sp>
        <p:nvSpPr>
          <p:cNvPr id="16" name="TextBox 15"/>
          <p:cNvSpPr txBox="1"/>
          <p:nvPr/>
        </p:nvSpPr>
        <p:spPr>
          <a:xfrm>
            <a:off x="4087368" y="1874520"/>
            <a:ext cx="2578608" cy="3785616"/>
          </a:xfrm>
          <a:prstGeom prst="rect">
            <a:avLst/>
          </a:prstGeom>
          <a:noFill/>
        </p:spPr>
        <p:txBody>
          <a:bodyPr wrap="square" anchor="t" rIns="73152" tIns="36576" bIns="18288">
            <a:spAutoFit/>
          </a:bodyPr>
          <a:lstStyle/>
          <a:p>
            <a:pPr algn="l">
              <a:lnSpc>
                <a:spcPct val="103000"/>
              </a:lnSpc>
              <a:spcAft>
                <a:spcPts val="150"/>
              </a:spcAft>
            </a:pPr>
            <a:r>
              <a:rPr sz="1120" b="0">
                <a:solidFill>
                  <a:srgbClr val="1E293B"/>
                </a:solidFill>
                <a:latin typeface="Aptos"/>
              </a:rPr>
              <a:t>DVS cycle, trigger, and pin rules are detailed and easy to misapply</a:t>
            </a:r>
          </a:p>
          <a:p>
            <a:pPr algn="l">
              <a:lnSpc>
                <a:spcPct val="103000"/>
              </a:lnSpc>
              <a:spcAft>
                <a:spcPts val="150"/>
              </a:spcAft>
            </a:pPr>
            <a:r>
              <a:rPr sz="1120" b="0">
                <a:solidFill>
                  <a:srgbClr val="1E293B"/>
                </a:solidFill>
                <a:latin typeface="Aptos"/>
              </a:rPr>
              <a:t>Approach: parameterized processing plus input checks instead of ad hoc edits</a:t>
            </a:r>
          </a:p>
        </p:txBody>
      </p:sp>
      <p:sp>
        <p:nvSpPr>
          <p:cNvPr id="17" name="Rounded Rectangle 16"/>
          <p:cNvSpPr/>
          <p:nvPr/>
        </p:nvSpPr>
        <p:spPr>
          <a:xfrm>
            <a:off x="7333488" y="1417320"/>
            <a:ext cx="2761488" cy="4315968"/>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33488" y="1417320"/>
            <a:ext cx="2761488"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1527048"/>
            <a:ext cx="2615184" cy="329184"/>
          </a:xfrm>
          <a:prstGeom prst="rect">
            <a:avLst/>
          </a:prstGeom>
          <a:noFill/>
        </p:spPr>
        <p:txBody>
          <a:bodyPr wrap="square" anchor="t" rIns="73152" tIns="36576" bIns="18288">
            <a:spAutoFit/>
          </a:bodyPr>
          <a:lstStyle/>
          <a:p>
            <a:pPr algn="l">
              <a:lnSpc>
                <a:spcPct val="108000"/>
              </a:lnSpc>
              <a:spcAft>
                <a:spcPts val="150"/>
              </a:spcAft>
            </a:pPr>
            <a:r>
              <a:rPr sz="1400" b="1">
                <a:solidFill>
                  <a:srgbClr val="092540"/>
                </a:solidFill>
                <a:latin typeface="Aptos"/>
              </a:rPr>
              <a:t>Repeated read-only checking</a:t>
            </a:r>
          </a:p>
        </p:txBody>
      </p:sp>
      <p:sp>
        <p:nvSpPr>
          <p:cNvPr id="20" name="TextBox 19"/>
          <p:cNvSpPr txBox="1"/>
          <p:nvPr/>
        </p:nvSpPr>
        <p:spPr>
          <a:xfrm>
            <a:off x="7424928" y="1874520"/>
            <a:ext cx="2578608" cy="3785616"/>
          </a:xfrm>
          <a:prstGeom prst="rect">
            <a:avLst/>
          </a:prstGeom>
          <a:noFill/>
        </p:spPr>
        <p:txBody>
          <a:bodyPr wrap="square" anchor="t" rIns="73152" tIns="36576" bIns="18288">
            <a:spAutoFit/>
          </a:bodyPr>
          <a:lstStyle/>
          <a:p>
            <a:pPr algn="l">
              <a:lnSpc>
                <a:spcPct val="103000"/>
              </a:lnSpc>
              <a:spcAft>
                <a:spcPts val="150"/>
              </a:spcAft>
            </a:pPr>
            <a:r>
              <a:rPr sz="1120" b="0">
                <a:solidFill>
                  <a:srgbClr val="1E293B"/>
                </a:solidFill>
                <a:latin typeface="Aptos"/>
              </a:rPr>
              <a:t>Recurring scan-pin extraction and group comparison</a:t>
            </a:r>
          </a:p>
          <a:p>
            <a:pPr algn="l">
              <a:lnSpc>
                <a:spcPct val="103000"/>
              </a:lnSpc>
              <a:spcAft>
                <a:spcPts val="150"/>
              </a:spcAft>
            </a:pPr>
            <a:r>
              <a:rPr sz="1120" b="0">
                <a:solidFill>
                  <a:srgbClr val="1E293B"/>
                </a:solidFill>
                <a:latin typeface="Aptos"/>
              </a:rPr>
              <a:t>Approach: structured checks and traceable reporting for review</a:t>
            </a:r>
          </a:p>
        </p:txBody>
      </p:sp>
      <p:sp>
        <p:nvSpPr>
          <p:cNvPr id="21" name="Rounded Rectangle 20"/>
          <p:cNvSpPr/>
          <p:nvPr/>
        </p:nvSpPr>
        <p:spPr>
          <a:xfrm>
            <a:off x="594360" y="5760720"/>
            <a:ext cx="10972800" cy="566928"/>
          </a:xfrm>
          <a:prstGeom prst="roundRect">
            <a:avLst/>
          </a:prstGeom>
          <a:solidFill>
            <a:srgbClr val="EAF4FF"/>
          </a:solidFill>
          <a:ln w="1270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843016"/>
            <a:ext cx="10652760" cy="384048"/>
          </a:xfrm>
          <a:prstGeom prst="rect">
            <a:avLst/>
          </a:prstGeom>
          <a:noFill/>
        </p:spPr>
        <p:txBody>
          <a:bodyPr wrap="square" anchor="t" rIns="73152" tIns="36576" bIns="18288">
            <a:spAutoFit/>
          </a:bodyPr>
          <a:lstStyle/>
          <a:p>
            <a:pPr algn="ctr">
              <a:lnSpc>
                <a:spcPct val="108000"/>
              </a:lnSpc>
              <a:spcAft>
                <a:spcPts val="150"/>
              </a:spcAft>
            </a:pPr>
            <a:r>
              <a:rPr sz="1400" b="1">
                <a:solidFill>
                  <a:srgbClr val="092540"/>
                </a:solidFill>
                <a:latin typeface="Aptos"/>
              </a:rPr>
              <a:t>These are task characteristics, not quantified historical losses; automation supports engineering judgment rather than replacing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09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91695"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7223760" cy="320040"/>
          </a:xfrm>
          <a:prstGeom prst="rect">
            <a:avLst/>
          </a:prstGeom>
          <a:noFill/>
        </p:spPr>
        <p:txBody>
          <a:bodyPr wrap="square" anchor="t" rIns="73152" tIns="36576" bIns="18288">
            <a:spAutoFit/>
          </a:bodyPr>
          <a:lstStyle/>
          <a:p>
            <a:pPr algn="l">
              <a:lnSpc>
                <a:spcPct val="108000"/>
              </a:lnSpc>
              <a:spcAft>
                <a:spcPts val="150"/>
              </a:spcAft>
            </a:pPr>
            <a:r>
              <a:rPr sz="2400" b="1">
                <a:solidFill>
                  <a:srgbClr val="FFFFFF"/>
                </a:solidFill>
                <a:latin typeface="Aptos"/>
              </a:rPr>
              <a:t>Key Deliverables</a:t>
            </a:r>
          </a:p>
        </p:txBody>
      </p:sp>
      <p:sp>
        <p:nvSpPr>
          <p:cNvPr id="5" name="TextBox 4"/>
          <p:cNvSpPr txBox="1"/>
          <p:nvPr/>
        </p:nvSpPr>
        <p:spPr>
          <a:xfrm>
            <a:off x="521207" y="429768"/>
            <a:ext cx="7406640" cy="182880"/>
          </a:xfrm>
          <a:prstGeom prst="rect">
            <a:avLst/>
          </a:prstGeom>
          <a:noFill/>
        </p:spPr>
        <p:txBody>
          <a:bodyPr wrap="square" anchor="t" rIns="73152" tIns="36576" bIns="18288">
            <a:spAutoFit/>
          </a:bodyPr>
          <a:lstStyle/>
          <a:p>
            <a:pPr algn="l">
              <a:lnSpc>
                <a:spcPct val="108000"/>
              </a:lnSpc>
              <a:spcAft>
                <a:spcPts val="150"/>
              </a:spcAft>
            </a:pPr>
            <a:r>
              <a:rPr sz="1050" b="0">
                <a:solidFill>
                  <a:srgbClr val="DCE9F7"/>
                </a:solidFill>
                <a:latin typeface="Aptos"/>
              </a:rPr>
              <a:t>Each deliverable separates shipped capability from intended value</a:t>
            </a:r>
          </a:p>
        </p:txBody>
      </p:sp>
      <p:sp>
        <p:nvSpPr>
          <p:cNvPr id="6" name="Rectangle 5"/>
          <p:cNvSpPr/>
          <p:nvPr/>
        </p:nvSpPr>
        <p:spPr>
          <a:xfrm>
            <a:off x="502920" y="6419088"/>
            <a:ext cx="11155680" cy="18288"/>
          </a:xfrm>
          <a:prstGeom prst="rect">
            <a:avLst/>
          </a:prstGeom>
          <a:solidFill>
            <a:srgbClr val="C0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46520"/>
            <a:ext cx="3840480" cy="164592"/>
          </a:xfrm>
          <a:prstGeom prst="rect">
            <a:avLst/>
          </a:prstGeom>
          <a:noFill/>
        </p:spPr>
        <p:txBody>
          <a:bodyPr wrap="square" anchor="t" rIns="73152" tIns="36576" bIns="18288">
            <a:spAutoFit/>
          </a:bodyPr>
          <a:lstStyle/>
          <a:p>
            <a:pPr algn="l">
              <a:lnSpc>
                <a:spcPct val="108000"/>
              </a:lnSpc>
              <a:spcAft>
                <a:spcPts val="150"/>
              </a:spcAft>
            </a:pPr>
            <a:r>
              <a:rPr sz="900" b="0">
                <a:solidFill>
                  <a:srgbClr val="5A6573"/>
                </a:solidFill>
                <a:latin typeface="Aptos"/>
              </a:rPr>
              <a:t>Ray Liu | September 2026</a:t>
            </a:r>
          </a:p>
        </p:txBody>
      </p:sp>
      <p:sp>
        <p:nvSpPr>
          <p:cNvPr id="8" name="TextBox 7"/>
          <p:cNvSpPr txBox="1"/>
          <p:nvPr/>
        </p:nvSpPr>
        <p:spPr>
          <a:xfrm>
            <a:off x="10424160" y="6446520"/>
            <a:ext cx="1005840" cy="164592"/>
          </a:xfrm>
          <a:prstGeom prst="rect">
            <a:avLst/>
          </a:prstGeom>
          <a:noFill/>
        </p:spPr>
        <p:txBody>
          <a:bodyPr wrap="square" anchor="t" rIns="73152" tIns="36576" bIns="18288">
            <a:spAutoFit/>
          </a:bodyPr>
          <a:lstStyle/>
          <a:p>
            <a:pPr algn="r">
              <a:lnSpc>
                <a:spcPct val="108000"/>
              </a:lnSpc>
              <a:spcAft>
                <a:spcPts val="150"/>
              </a:spcAft>
            </a:pPr>
            <a:r>
              <a:rPr sz="900" b="0">
                <a:solidFill>
                  <a:srgbClr val="5A6573"/>
                </a:solidFill>
                <a:latin typeface="Aptos"/>
              </a:rPr>
              <a:t>3</a:t>
            </a:r>
          </a:p>
        </p:txBody>
      </p:sp>
      <p:sp>
        <p:nvSpPr>
          <p:cNvPr id="9" name="Rounded Rectangle 8"/>
          <p:cNvSpPr/>
          <p:nvPr/>
        </p:nvSpPr>
        <p:spPr>
          <a:xfrm>
            <a:off x="658368" y="1234440"/>
            <a:ext cx="5285232" cy="2176272"/>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234440"/>
            <a:ext cx="5285232"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44168"/>
            <a:ext cx="5138928" cy="329184"/>
          </a:xfrm>
          <a:prstGeom prst="rect">
            <a:avLst/>
          </a:prstGeom>
          <a:noFill/>
        </p:spPr>
        <p:txBody>
          <a:bodyPr wrap="square" anchor="t" rIns="73152" tIns="36576" bIns="18288">
            <a:spAutoFit/>
          </a:bodyPr>
          <a:lstStyle/>
          <a:p>
            <a:pPr algn="l">
              <a:lnSpc>
                <a:spcPct val="108000"/>
              </a:lnSpc>
              <a:spcAft>
                <a:spcPts val="150"/>
              </a:spcAft>
            </a:pPr>
            <a:r>
              <a:rPr sz="1380" b="1">
                <a:solidFill>
                  <a:srgbClr val="092540"/>
                </a:solidFill>
                <a:latin typeface="Aptos"/>
              </a:rPr>
              <a:t>A. PCAR3 visual Web UI</a:t>
            </a:r>
          </a:p>
        </p:txBody>
      </p:sp>
      <p:sp>
        <p:nvSpPr>
          <p:cNvPr id="12" name="TextBox 11"/>
          <p:cNvSpPr txBox="1"/>
          <p:nvPr/>
        </p:nvSpPr>
        <p:spPr>
          <a:xfrm>
            <a:off x="749808" y="1691640"/>
            <a:ext cx="5102352" cy="1645920"/>
          </a:xfrm>
          <a:prstGeom prst="rect">
            <a:avLst/>
          </a:prstGeom>
          <a:noFill/>
        </p:spPr>
        <p:txBody>
          <a:bodyPr wrap="square" anchor="t" rIns="73152" tIns="36576" bIns="18288">
            <a:spAutoFit/>
          </a:bodyPr>
          <a:lstStyle/>
          <a:p>
            <a:pPr algn="l">
              <a:lnSpc>
                <a:spcPct val="103000"/>
              </a:lnSpc>
              <a:spcAft>
                <a:spcPts val="150"/>
              </a:spcAft>
            </a:pPr>
            <a:r>
              <a:rPr sz="1080" b="0">
                <a:solidFill>
                  <a:srgbClr val="1E293B"/>
                </a:solidFill>
                <a:latin typeface="Aptos"/>
              </a:rPr>
              <a:t>Delivered: multiple PLBs, Loop Partition, drag/drop ordering, and state persistence</a:t>
            </a:r>
          </a:p>
          <a:p>
            <a:pPr algn="l">
              <a:lnSpc>
                <a:spcPct val="103000"/>
              </a:lnSpc>
              <a:spcAft>
                <a:spcPts val="150"/>
              </a:spcAft>
            </a:pPr>
            <a:r>
              <a:rPr sz="1080" b="0">
                <a:solidFill>
                  <a:srgbClr val="1E293B"/>
                </a:solidFill>
                <a:latin typeface="Aptos"/>
              </a:rPr>
              <a:t>Intended value: less manual structuring and less repeated re-entry</a:t>
            </a:r>
          </a:p>
        </p:txBody>
      </p:sp>
      <p:sp>
        <p:nvSpPr>
          <p:cNvPr id="13" name="Rounded Rectangle 12"/>
          <p:cNvSpPr/>
          <p:nvPr/>
        </p:nvSpPr>
        <p:spPr>
          <a:xfrm>
            <a:off x="6245352" y="1234440"/>
            <a:ext cx="5285232" cy="2176272"/>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1234440"/>
            <a:ext cx="5285232"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1344168"/>
            <a:ext cx="5138928" cy="329184"/>
          </a:xfrm>
          <a:prstGeom prst="rect">
            <a:avLst/>
          </a:prstGeom>
          <a:noFill/>
        </p:spPr>
        <p:txBody>
          <a:bodyPr wrap="square" anchor="t" rIns="73152" tIns="36576" bIns="18288">
            <a:spAutoFit/>
          </a:bodyPr>
          <a:lstStyle/>
          <a:p>
            <a:pPr algn="l">
              <a:lnSpc>
                <a:spcPct val="108000"/>
              </a:lnSpc>
              <a:spcAft>
                <a:spcPts val="150"/>
              </a:spcAft>
            </a:pPr>
            <a:r>
              <a:rPr sz="1380" b="1">
                <a:solidFill>
                  <a:srgbClr val="092540"/>
                </a:solidFill>
                <a:latin typeface="Aptos"/>
              </a:rPr>
              <a:t>B. Natural-language Copilot Skill</a:t>
            </a:r>
          </a:p>
        </p:txBody>
      </p:sp>
      <p:sp>
        <p:nvSpPr>
          <p:cNvPr id="16" name="TextBox 15"/>
          <p:cNvSpPr txBox="1"/>
          <p:nvPr/>
        </p:nvSpPr>
        <p:spPr>
          <a:xfrm>
            <a:off x="6336792" y="1691640"/>
            <a:ext cx="5102352" cy="1645920"/>
          </a:xfrm>
          <a:prstGeom prst="rect">
            <a:avLst/>
          </a:prstGeom>
          <a:noFill/>
        </p:spPr>
        <p:txBody>
          <a:bodyPr wrap="square" anchor="t" rIns="73152" tIns="36576" bIns="18288">
            <a:spAutoFit/>
          </a:bodyPr>
          <a:lstStyle/>
          <a:p>
            <a:pPr algn="l">
              <a:lnSpc>
                <a:spcPct val="103000"/>
              </a:lnSpc>
              <a:spcAft>
                <a:spcPts val="150"/>
              </a:spcAft>
            </a:pPr>
            <a:r>
              <a:rPr sz="1080" b="0">
                <a:solidFill>
                  <a:srgbClr val="1E293B"/>
                </a:solidFill>
                <a:latin typeface="Aptos"/>
              </a:rPr>
              <a:t>Delivered: generate .pcar, and optionally resolve patterns, submit builds, poll status, and verify real Pat output</a:t>
            </a:r>
          </a:p>
          <a:p>
            <a:pPr algn="l">
              <a:lnSpc>
                <a:spcPct val="103000"/>
              </a:lnSpc>
              <a:spcAft>
                <a:spcPts val="150"/>
              </a:spcAft>
            </a:pPr>
            <a:r>
              <a:rPr sz="1080" b="0">
                <a:solidFill>
                  <a:srgbClr val="1E293B"/>
                </a:solidFill>
                <a:latin typeface="Aptos"/>
              </a:rPr>
              <a:t>Boundary: builds require the right environment and access; code-only generation does not</a:t>
            </a:r>
          </a:p>
        </p:txBody>
      </p:sp>
      <p:sp>
        <p:nvSpPr>
          <p:cNvPr id="17" name="Rounded Rectangle 16"/>
          <p:cNvSpPr/>
          <p:nvPr/>
        </p:nvSpPr>
        <p:spPr>
          <a:xfrm>
            <a:off x="658368" y="3776472"/>
            <a:ext cx="5285232" cy="2176272"/>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76472"/>
            <a:ext cx="5285232"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86200"/>
            <a:ext cx="5138928" cy="329184"/>
          </a:xfrm>
          <a:prstGeom prst="rect">
            <a:avLst/>
          </a:prstGeom>
          <a:noFill/>
        </p:spPr>
        <p:txBody>
          <a:bodyPr wrap="square" anchor="t" rIns="73152" tIns="36576" bIns="18288">
            <a:spAutoFit/>
          </a:bodyPr>
          <a:lstStyle/>
          <a:p>
            <a:pPr algn="l">
              <a:lnSpc>
                <a:spcPct val="108000"/>
              </a:lnSpc>
              <a:spcAft>
                <a:spcPts val="150"/>
              </a:spcAft>
            </a:pPr>
            <a:r>
              <a:rPr sz="1380" b="1">
                <a:solidFill>
                  <a:srgbClr val="092540"/>
                </a:solidFill>
                <a:latin typeface="Aptos"/>
              </a:rPr>
              <a:t>C. DVS CLI / Skill</a:t>
            </a:r>
          </a:p>
        </p:txBody>
      </p:sp>
      <p:sp>
        <p:nvSpPr>
          <p:cNvPr id="20" name="TextBox 19"/>
          <p:cNvSpPr txBox="1"/>
          <p:nvPr/>
        </p:nvSpPr>
        <p:spPr>
          <a:xfrm>
            <a:off x="749808" y="4233672"/>
            <a:ext cx="5102352" cy="1645920"/>
          </a:xfrm>
          <a:prstGeom prst="rect">
            <a:avLst/>
          </a:prstGeom>
          <a:noFill/>
        </p:spPr>
        <p:txBody>
          <a:bodyPr wrap="square" anchor="t" rIns="73152" tIns="36576" bIns="18288">
            <a:spAutoFit/>
          </a:bodyPr>
          <a:lstStyle/>
          <a:p>
            <a:pPr algn="l">
              <a:lnSpc>
                <a:spcPct val="103000"/>
              </a:lnSpc>
              <a:spcAft>
                <a:spcPts val="150"/>
              </a:spcAft>
            </a:pPr>
            <a:r>
              <a:rPr sz="1080" b="0">
                <a:solidFill>
                  <a:srgbClr val="1E293B"/>
                </a:solidFill>
                <a:latin typeface="Aptos"/>
              </a:rPr>
              <a:t>Delivered: transform the expected 16 trigger blocks, support CCD / IOD / DRD, and handle .stil / .stil.gz</a:t>
            </a:r>
          </a:p>
          <a:p>
            <a:pPr algn="l">
              <a:lnSpc>
                <a:spcPct val="103000"/>
              </a:lnSpc>
              <a:spcAft>
                <a:spcPts val="150"/>
              </a:spcAft>
            </a:pPr>
            <a:r>
              <a:rPr sz="1080" b="0">
                <a:solidFill>
                  <a:srgbClr val="1E293B"/>
                </a:solidFill>
                <a:latin typeface="Aptos"/>
              </a:rPr>
              <a:t>Intended value: convert repeated editing into consistent rule-based processing</a:t>
            </a:r>
          </a:p>
        </p:txBody>
      </p:sp>
      <p:sp>
        <p:nvSpPr>
          <p:cNvPr id="21" name="Rounded Rectangle 20"/>
          <p:cNvSpPr/>
          <p:nvPr/>
        </p:nvSpPr>
        <p:spPr>
          <a:xfrm>
            <a:off x="6245352" y="3776472"/>
            <a:ext cx="5285232" cy="2176272"/>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5352" y="3776472"/>
            <a:ext cx="5285232"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3886200"/>
            <a:ext cx="5138928" cy="329184"/>
          </a:xfrm>
          <a:prstGeom prst="rect">
            <a:avLst/>
          </a:prstGeom>
          <a:noFill/>
        </p:spPr>
        <p:txBody>
          <a:bodyPr wrap="square" anchor="t" rIns="73152" tIns="36576" bIns="18288">
            <a:spAutoFit/>
          </a:bodyPr>
          <a:lstStyle/>
          <a:p>
            <a:pPr algn="l">
              <a:lnSpc>
                <a:spcPct val="108000"/>
              </a:lnSpc>
              <a:spcAft>
                <a:spcPts val="150"/>
              </a:spcAft>
            </a:pPr>
            <a:r>
              <a:rPr sz="1380" b="1">
                <a:solidFill>
                  <a:srgbClr val="092540"/>
                </a:solidFill>
                <a:latin typeface="Aptos"/>
              </a:rPr>
              <a:t>D. Scan pin CLI / Skill</a:t>
            </a:r>
          </a:p>
        </p:txBody>
      </p:sp>
      <p:sp>
        <p:nvSpPr>
          <p:cNvPr id="24" name="TextBox 23"/>
          <p:cNvSpPr txBox="1"/>
          <p:nvPr/>
        </p:nvSpPr>
        <p:spPr>
          <a:xfrm>
            <a:off x="6336792" y="4233672"/>
            <a:ext cx="5102352" cy="1645920"/>
          </a:xfrm>
          <a:prstGeom prst="rect">
            <a:avLst/>
          </a:prstGeom>
          <a:noFill/>
        </p:spPr>
        <p:txBody>
          <a:bodyPr wrap="square" anchor="t" rIns="73152" tIns="36576" bIns="18288">
            <a:spAutoFit/>
          </a:bodyPr>
          <a:lstStyle/>
          <a:p>
            <a:pPr algn="l">
              <a:lnSpc>
                <a:spcPct val="103000"/>
              </a:lnSpc>
              <a:spcAft>
                <a:spcPts val="150"/>
              </a:spcAft>
            </a:pPr>
            <a:r>
              <a:rPr sz="1080" b="0">
                <a:solidFill>
                  <a:srgbClr val="1E293B"/>
                </a:solidFill>
                <a:latin typeface="Aptos"/>
              </a:rPr>
              <a:t>Delivered: extract ScanIn / ScanOut, normalize names, check allowed-group union, and emit JSON with chain names, line numbers, and matches</a:t>
            </a:r>
          </a:p>
          <a:p>
            <a:pPr algn="l">
              <a:lnSpc>
                <a:spcPct val="103000"/>
              </a:lnSpc>
              <a:spcAft>
                <a:spcPts val="150"/>
              </a:spcAft>
            </a:pPr>
            <a:r>
              <a:rPr sz="1080" b="0">
                <a:solidFill>
                  <a:srgbClr val="1E293B"/>
                </a:solidFill>
                <a:latin typeface="Aptos"/>
              </a:rPr>
              <a:t>Intended value: produce traceable read-only check results for human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09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91695"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7223760" cy="320040"/>
          </a:xfrm>
          <a:prstGeom prst="rect">
            <a:avLst/>
          </a:prstGeom>
          <a:noFill/>
        </p:spPr>
        <p:txBody>
          <a:bodyPr wrap="square" anchor="t" rIns="73152" tIns="36576" bIns="18288">
            <a:spAutoFit/>
          </a:bodyPr>
          <a:lstStyle/>
          <a:p>
            <a:pPr algn="l">
              <a:lnSpc>
                <a:spcPct val="108000"/>
              </a:lnSpc>
              <a:spcAft>
                <a:spcPts val="150"/>
              </a:spcAft>
            </a:pPr>
            <a:r>
              <a:rPr sz="2400" b="1">
                <a:solidFill>
                  <a:srgbClr val="FFFFFF"/>
                </a:solidFill>
                <a:latin typeface="Aptos"/>
              </a:rPr>
              <a:t>Quality and Risk Controls</a:t>
            </a:r>
          </a:p>
        </p:txBody>
      </p:sp>
      <p:sp>
        <p:nvSpPr>
          <p:cNvPr id="5" name="TextBox 4"/>
          <p:cNvSpPr txBox="1"/>
          <p:nvPr/>
        </p:nvSpPr>
        <p:spPr>
          <a:xfrm>
            <a:off x="521207" y="429768"/>
            <a:ext cx="7406640" cy="182880"/>
          </a:xfrm>
          <a:prstGeom prst="rect">
            <a:avLst/>
          </a:prstGeom>
          <a:noFill/>
        </p:spPr>
        <p:txBody>
          <a:bodyPr wrap="square" anchor="t" rIns="73152" tIns="36576" bIns="18288">
            <a:spAutoFit/>
          </a:bodyPr>
          <a:lstStyle/>
          <a:p>
            <a:pPr algn="l">
              <a:lnSpc>
                <a:spcPct val="108000"/>
              </a:lnSpc>
              <a:spcAft>
                <a:spcPts val="150"/>
              </a:spcAft>
            </a:pPr>
            <a:r>
              <a:rPr sz="1050" b="0">
                <a:solidFill>
                  <a:srgbClr val="DCE9F7"/>
                </a:solidFill>
                <a:latin typeface="Aptos"/>
              </a:rPr>
              <a:t>Emphasize input protection, artifact checks, and explicit boundaries rather than over-promising</a:t>
            </a:r>
          </a:p>
        </p:txBody>
      </p:sp>
      <p:sp>
        <p:nvSpPr>
          <p:cNvPr id="6" name="Rectangle 5"/>
          <p:cNvSpPr/>
          <p:nvPr/>
        </p:nvSpPr>
        <p:spPr>
          <a:xfrm>
            <a:off x="502920" y="6419088"/>
            <a:ext cx="11155680" cy="18288"/>
          </a:xfrm>
          <a:prstGeom prst="rect">
            <a:avLst/>
          </a:prstGeom>
          <a:solidFill>
            <a:srgbClr val="C0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46520"/>
            <a:ext cx="3840480" cy="164592"/>
          </a:xfrm>
          <a:prstGeom prst="rect">
            <a:avLst/>
          </a:prstGeom>
          <a:noFill/>
        </p:spPr>
        <p:txBody>
          <a:bodyPr wrap="square" anchor="t" rIns="73152" tIns="36576" bIns="18288">
            <a:spAutoFit/>
          </a:bodyPr>
          <a:lstStyle/>
          <a:p>
            <a:pPr algn="l">
              <a:lnSpc>
                <a:spcPct val="108000"/>
              </a:lnSpc>
              <a:spcAft>
                <a:spcPts val="150"/>
              </a:spcAft>
            </a:pPr>
            <a:r>
              <a:rPr sz="900" b="0">
                <a:solidFill>
                  <a:srgbClr val="5A6573"/>
                </a:solidFill>
                <a:latin typeface="Aptos"/>
              </a:rPr>
              <a:t>Ray Liu | September 2026</a:t>
            </a:r>
          </a:p>
        </p:txBody>
      </p:sp>
      <p:sp>
        <p:nvSpPr>
          <p:cNvPr id="8" name="TextBox 7"/>
          <p:cNvSpPr txBox="1"/>
          <p:nvPr/>
        </p:nvSpPr>
        <p:spPr>
          <a:xfrm>
            <a:off x="10424160" y="6446520"/>
            <a:ext cx="1005840" cy="164592"/>
          </a:xfrm>
          <a:prstGeom prst="rect">
            <a:avLst/>
          </a:prstGeom>
          <a:noFill/>
        </p:spPr>
        <p:txBody>
          <a:bodyPr wrap="square" anchor="t" rIns="73152" tIns="36576" bIns="18288">
            <a:spAutoFit/>
          </a:bodyPr>
          <a:lstStyle/>
          <a:p>
            <a:pPr algn="r">
              <a:lnSpc>
                <a:spcPct val="108000"/>
              </a:lnSpc>
              <a:spcAft>
                <a:spcPts val="150"/>
              </a:spcAft>
            </a:pPr>
            <a:r>
              <a:rPr sz="900" b="0">
                <a:solidFill>
                  <a:srgbClr val="5A6573"/>
                </a:solidFill>
                <a:latin typeface="Aptos"/>
              </a:rPr>
              <a:t>4</a:t>
            </a:r>
          </a:p>
        </p:txBody>
      </p:sp>
      <p:sp>
        <p:nvSpPr>
          <p:cNvPr id="9" name="Rounded Rectangle 8"/>
          <p:cNvSpPr/>
          <p:nvPr/>
        </p:nvSpPr>
        <p:spPr>
          <a:xfrm>
            <a:off x="658368" y="1463040"/>
            <a:ext cx="2761488" cy="40690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463040"/>
            <a:ext cx="2761488"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572768"/>
            <a:ext cx="2615184" cy="329184"/>
          </a:xfrm>
          <a:prstGeom prst="rect">
            <a:avLst/>
          </a:prstGeom>
          <a:noFill/>
        </p:spPr>
        <p:txBody>
          <a:bodyPr wrap="square" anchor="t" rIns="73152" tIns="36576" bIns="18288">
            <a:spAutoFit/>
          </a:bodyPr>
          <a:lstStyle/>
          <a:p>
            <a:pPr algn="l">
              <a:lnSpc>
                <a:spcPct val="108000"/>
              </a:lnSpc>
              <a:spcAft>
                <a:spcPts val="150"/>
              </a:spcAft>
            </a:pPr>
            <a:r>
              <a:rPr sz="1380" b="1">
                <a:solidFill>
                  <a:srgbClr val="092540"/>
                </a:solidFill>
                <a:latin typeface="Aptos"/>
              </a:rPr>
              <a:t>Protect inputs</a:t>
            </a:r>
          </a:p>
        </p:txBody>
      </p:sp>
      <p:sp>
        <p:nvSpPr>
          <p:cNvPr id="12" name="TextBox 11"/>
          <p:cNvSpPr txBox="1"/>
          <p:nvPr/>
        </p:nvSpPr>
        <p:spPr>
          <a:xfrm>
            <a:off x="749808" y="1920240"/>
            <a:ext cx="2578608" cy="3538728"/>
          </a:xfrm>
          <a:prstGeom prst="rect">
            <a:avLst/>
          </a:prstGeom>
          <a:noFill/>
        </p:spPr>
        <p:txBody>
          <a:bodyPr wrap="square" anchor="t" rIns="73152" tIns="36576" bIns="18288">
            <a:spAutoFit/>
          </a:bodyPr>
          <a:lstStyle/>
          <a:p>
            <a:pPr algn="l">
              <a:lnSpc>
                <a:spcPct val="103000"/>
              </a:lnSpc>
              <a:spcAft>
                <a:spcPts val="150"/>
              </a:spcAft>
            </a:pPr>
            <a:r>
              <a:rPr sz="1090" b="0">
                <a:solidFill>
                  <a:srgbClr val="1E293B"/>
                </a:solidFill>
                <a:latin typeface="Aptos"/>
              </a:rPr>
              <a:t>DVS writes a separate output instead of overwriting the source</a:t>
            </a:r>
          </a:p>
          <a:p>
            <a:pPr algn="l">
              <a:lnSpc>
                <a:spcPct val="103000"/>
              </a:lnSpc>
              <a:spcAft>
                <a:spcPts val="150"/>
              </a:spcAft>
            </a:pPr>
            <a:r>
              <a:rPr sz="1090" b="0">
                <a:solidFill>
                  <a:srgbClr val="1E293B"/>
                </a:solidFill>
                <a:latin typeface="Aptos"/>
              </a:rPr>
              <a:t>Supports dry-run and rejects malformed, reprocessed, or source-overwriting input</a:t>
            </a:r>
          </a:p>
        </p:txBody>
      </p:sp>
      <p:sp>
        <p:nvSpPr>
          <p:cNvPr id="13" name="Rounded Rectangle 12"/>
          <p:cNvSpPr/>
          <p:nvPr/>
        </p:nvSpPr>
        <p:spPr>
          <a:xfrm>
            <a:off x="3995928" y="1463040"/>
            <a:ext cx="2761488" cy="40690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95928" y="1463040"/>
            <a:ext cx="2761488"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572768"/>
            <a:ext cx="2615184" cy="329184"/>
          </a:xfrm>
          <a:prstGeom prst="rect">
            <a:avLst/>
          </a:prstGeom>
          <a:noFill/>
        </p:spPr>
        <p:txBody>
          <a:bodyPr wrap="square" anchor="t" rIns="73152" tIns="36576" bIns="18288">
            <a:spAutoFit/>
          </a:bodyPr>
          <a:lstStyle/>
          <a:p>
            <a:pPr algn="l">
              <a:lnSpc>
                <a:spcPct val="108000"/>
              </a:lnSpc>
              <a:spcAft>
                <a:spcPts val="150"/>
              </a:spcAft>
            </a:pPr>
            <a:r>
              <a:rPr sz="1380" b="1">
                <a:solidFill>
                  <a:srgbClr val="092540"/>
                </a:solidFill>
                <a:latin typeface="Aptos"/>
              </a:rPr>
              <a:t>Verify artifacts</a:t>
            </a:r>
          </a:p>
        </p:txBody>
      </p:sp>
      <p:sp>
        <p:nvSpPr>
          <p:cNvPr id="16" name="TextBox 15"/>
          <p:cNvSpPr txBox="1"/>
          <p:nvPr/>
        </p:nvSpPr>
        <p:spPr>
          <a:xfrm>
            <a:off x="4087368" y="1920240"/>
            <a:ext cx="2578608" cy="3538728"/>
          </a:xfrm>
          <a:prstGeom prst="rect">
            <a:avLst/>
          </a:prstGeom>
          <a:noFill/>
        </p:spPr>
        <p:txBody>
          <a:bodyPr wrap="square" anchor="t" rIns="73152" tIns="36576" bIns="18288">
            <a:spAutoFit/>
          </a:bodyPr>
          <a:lstStyle/>
          <a:p>
            <a:pPr algn="l">
              <a:lnSpc>
                <a:spcPct val="103000"/>
              </a:lnSpc>
              <a:spcAft>
                <a:spcPts val="150"/>
              </a:spcAft>
            </a:pPr>
            <a:r>
              <a:rPr sz="1090" b="0">
                <a:solidFill>
                  <a:srgbClr val="1E293B"/>
                </a:solidFill>
                <a:latin typeface="Aptos"/>
              </a:rPr>
              <a:t>PList-oriented flow checks for real Pat content, not only a completed job status</a:t>
            </a:r>
          </a:p>
          <a:p>
            <a:pPr algn="l">
              <a:lnSpc>
                <a:spcPct val="103000"/>
              </a:lnSpc>
              <a:spcAft>
                <a:spcPts val="150"/>
              </a:spcAft>
            </a:pPr>
            <a:r>
              <a:rPr sz="1090" b="0">
                <a:solidFill>
                  <a:srgbClr val="1E293B"/>
                </a:solidFill>
                <a:latin typeface="Aptos"/>
              </a:rPr>
              <a:t>Scan-pin reports include chain names, line numbers, and matching groups for traceability</a:t>
            </a:r>
          </a:p>
        </p:txBody>
      </p:sp>
      <p:sp>
        <p:nvSpPr>
          <p:cNvPr id="17" name="Rounded Rectangle 16"/>
          <p:cNvSpPr/>
          <p:nvPr/>
        </p:nvSpPr>
        <p:spPr>
          <a:xfrm>
            <a:off x="7333488" y="1463040"/>
            <a:ext cx="2761488" cy="40690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33488" y="1463040"/>
            <a:ext cx="2761488"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1572768"/>
            <a:ext cx="2615184" cy="329184"/>
          </a:xfrm>
          <a:prstGeom prst="rect">
            <a:avLst/>
          </a:prstGeom>
          <a:noFill/>
        </p:spPr>
        <p:txBody>
          <a:bodyPr wrap="square" anchor="t" rIns="73152" tIns="36576" bIns="18288">
            <a:spAutoFit/>
          </a:bodyPr>
          <a:lstStyle/>
          <a:p>
            <a:pPr algn="l">
              <a:lnSpc>
                <a:spcPct val="108000"/>
              </a:lnSpc>
              <a:spcAft>
                <a:spcPts val="150"/>
              </a:spcAft>
            </a:pPr>
            <a:r>
              <a:rPr sz="1380" b="1">
                <a:solidFill>
                  <a:srgbClr val="092540"/>
                </a:solidFill>
                <a:latin typeface="Aptos"/>
              </a:rPr>
              <a:t>State boundaries explicitly</a:t>
            </a:r>
          </a:p>
        </p:txBody>
      </p:sp>
      <p:sp>
        <p:nvSpPr>
          <p:cNvPr id="20" name="TextBox 19"/>
          <p:cNvSpPr txBox="1"/>
          <p:nvPr/>
        </p:nvSpPr>
        <p:spPr>
          <a:xfrm>
            <a:off x="7424928" y="1920240"/>
            <a:ext cx="2578608" cy="3538728"/>
          </a:xfrm>
          <a:prstGeom prst="rect">
            <a:avLst/>
          </a:prstGeom>
          <a:noFill/>
        </p:spPr>
        <p:txBody>
          <a:bodyPr wrap="square" anchor="t" rIns="73152" tIns="36576" bIns="18288">
            <a:spAutoFit/>
          </a:bodyPr>
          <a:lstStyle/>
          <a:p>
            <a:pPr algn="l">
              <a:lnSpc>
                <a:spcPct val="103000"/>
              </a:lnSpc>
              <a:spcAft>
                <a:spcPts val="150"/>
              </a:spcAft>
            </a:pPr>
            <a:r>
              <a:rPr sz="1090" b="0">
                <a:solidFill>
                  <a:srgbClr val="1E293B"/>
                </a:solidFill>
                <a:latin typeface="Aptos"/>
              </a:rPr>
              <a:t>A pin PASS means membership in the allowed group union only</a:t>
            </a:r>
          </a:p>
          <a:p>
            <a:pPr algn="l">
              <a:lnSpc>
                <a:spcPct val="103000"/>
              </a:lnSpc>
              <a:spcAft>
                <a:spcPts val="150"/>
              </a:spcAft>
            </a:pPr>
            <a:r>
              <a:rPr sz="1090" b="0">
                <a:solidFill>
                  <a:srgbClr val="1E293B"/>
                </a:solidFill>
                <a:latin typeface="Aptos"/>
              </a:rPr>
              <a:t>It does not mean direction, timing, electrical correctness, or tester readiness</a:t>
            </a:r>
          </a:p>
        </p:txBody>
      </p:sp>
      <p:sp>
        <p:nvSpPr>
          <p:cNvPr id="21" name="Rounded Rectangle 20"/>
          <p:cNvSpPr/>
          <p:nvPr/>
        </p:nvSpPr>
        <p:spPr>
          <a:xfrm>
            <a:off x="731520" y="5596128"/>
            <a:ext cx="10835640" cy="658368"/>
          </a:xfrm>
          <a:prstGeom prst="roundRect">
            <a:avLst/>
          </a:prstGeom>
          <a:solidFill>
            <a:srgbClr val="F1F6FC"/>
          </a:solidFill>
          <a:ln>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687568"/>
            <a:ext cx="10515600" cy="420624"/>
          </a:xfrm>
          <a:prstGeom prst="rect">
            <a:avLst/>
          </a:prstGeom>
          <a:noFill/>
        </p:spPr>
        <p:txBody>
          <a:bodyPr wrap="square" anchor="t" rIns="73152" tIns="36576" bIns="18288">
            <a:spAutoFit/>
          </a:bodyPr>
          <a:lstStyle/>
          <a:p>
            <a:pPr algn="ctr">
              <a:lnSpc>
                <a:spcPct val="108000"/>
              </a:lnSpc>
              <a:spcAft>
                <a:spcPts val="150"/>
              </a:spcAft>
            </a:pPr>
            <a:r>
              <a:rPr sz="1220" b="0">
                <a:solidFill>
                  <a:srgbClr val="092540"/>
                </a:solidFill>
                <a:latin typeface="Aptos"/>
              </a:rPr>
              <a:t>No claim of zero defects or production certification; final acceptance and exception handling remain human-owned.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09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91695"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7223760" cy="320040"/>
          </a:xfrm>
          <a:prstGeom prst="rect">
            <a:avLst/>
          </a:prstGeom>
          <a:noFill/>
        </p:spPr>
        <p:txBody>
          <a:bodyPr wrap="square" anchor="t" rIns="73152" tIns="36576" bIns="18288">
            <a:spAutoFit/>
          </a:bodyPr>
          <a:lstStyle/>
          <a:p>
            <a:pPr algn="l">
              <a:lnSpc>
                <a:spcPct val="108000"/>
              </a:lnSpc>
              <a:spcAft>
                <a:spcPts val="150"/>
              </a:spcAft>
            </a:pPr>
            <a:r>
              <a:rPr sz="2400" b="1">
                <a:solidFill>
                  <a:srgbClr val="FFFFFF"/>
                </a:solidFill>
                <a:latin typeface="Aptos"/>
              </a:rPr>
              <a:t>Business Value and Measurement</a:t>
            </a:r>
          </a:p>
        </p:txBody>
      </p:sp>
      <p:sp>
        <p:nvSpPr>
          <p:cNvPr id="5" name="TextBox 4"/>
          <p:cNvSpPr txBox="1"/>
          <p:nvPr/>
        </p:nvSpPr>
        <p:spPr>
          <a:xfrm>
            <a:off x="521207" y="429768"/>
            <a:ext cx="7406640" cy="182880"/>
          </a:xfrm>
          <a:prstGeom prst="rect">
            <a:avLst/>
          </a:prstGeom>
          <a:noFill/>
        </p:spPr>
        <p:txBody>
          <a:bodyPr wrap="square" anchor="t" rIns="73152" tIns="36576" bIns="18288">
            <a:spAutoFit/>
          </a:bodyPr>
          <a:lstStyle/>
          <a:p>
            <a:pPr algn="l">
              <a:lnSpc>
                <a:spcPct val="108000"/>
              </a:lnSpc>
              <a:spcAft>
                <a:spcPts val="150"/>
              </a:spcAft>
            </a:pPr>
            <a:r>
              <a:rPr sz="1050" b="0">
                <a:solidFill>
                  <a:srgbClr val="DCE9F7"/>
                </a:solidFill>
                <a:latin typeface="Aptos"/>
              </a:rPr>
              <a:t>Define the measurement method first, then decide whether the tools justify broader rollout</a:t>
            </a:r>
          </a:p>
        </p:txBody>
      </p:sp>
      <p:sp>
        <p:nvSpPr>
          <p:cNvPr id="6" name="Rectangle 5"/>
          <p:cNvSpPr/>
          <p:nvPr/>
        </p:nvSpPr>
        <p:spPr>
          <a:xfrm>
            <a:off x="502920" y="6419088"/>
            <a:ext cx="11155680" cy="18288"/>
          </a:xfrm>
          <a:prstGeom prst="rect">
            <a:avLst/>
          </a:prstGeom>
          <a:solidFill>
            <a:srgbClr val="C0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46520"/>
            <a:ext cx="3840480" cy="164592"/>
          </a:xfrm>
          <a:prstGeom prst="rect">
            <a:avLst/>
          </a:prstGeom>
          <a:noFill/>
        </p:spPr>
        <p:txBody>
          <a:bodyPr wrap="square" anchor="t" rIns="73152" tIns="36576" bIns="18288">
            <a:spAutoFit/>
          </a:bodyPr>
          <a:lstStyle/>
          <a:p>
            <a:pPr algn="l">
              <a:lnSpc>
                <a:spcPct val="108000"/>
              </a:lnSpc>
              <a:spcAft>
                <a:spcPts val="150"/>
              </a:spcAft>
            </a:pPr>
            <a:r>
              <a:rPr sz="900" b="0">
                <a:solidFill>
                  <a:srgbClr val="5A6573"/>
                </a:solidFill>
                <a:latin typeface="Aptos"/>
              </a:rPr>
              <a:t>Ray Liu | September 2026</a:t>
            </a:r>
          </a:p>
        </p:txBody>
      </p:sp>
      <p:sp>
        <p:nvSpPr>
          <p:cNvPr id="8" name="TextBox 7"/>
          <p:cNvSpPr txBox="1"/>
          <p:nvPr/>
        </p:nvSpPr>
        <p:spPr>
          <a:xfrm>
            <a:off x="10424160" y="6446520"/>
            <a:ext cx="1005840" cy="164592"/>
          </a:xfrm>
          <a:prstGeom prst="rect">
            <a:avLst/>
          </a:prstGeom>
          <a:noFill/>
        </p:spPr>
        <p:txBody>
          <a:bodyPr wrap="square" anchor="t" rIns="73152" tIns="36576" bIns="18288">
            <a:spAutoFit/>
          </a:bodyPr>
          <a:lstStyle/>
          <a:p>
            <a:pPr algn="r">
              <a:lnSpc>
                <a:spcPct val="108000"/>
              </a:lnSpc>
              <a:spcAft>
                <a:spcPts val="150"/>
              </a:spcAft>
            </a:pPr>
            <a:r>
              <a:rPr sz="900" b="0">
                <a:solidFill>
                  <a:srgbClr val="5A6573"/>
                </a:solidFill>
                <a:latin typeface="Aptos"/>
              </a:rPr>
              <a:t>5</a:t>
            </a:r>
          </a:p>
        </p:txBody>
      </p:sp>
      <p:graphicFrame>
        <p:nvGraphicFramePr>
          <p:cNvPr id="9" name="Table 8"/>
          <p:cNvGraphicFramePr>
            <a:graphicFrameLocks noGrp="1"/>
          </p:cNvGraphicFramePr>
          <p:nvPr/>
        </p:nvGraphicFramePr>
        <p:xfrm>
          <a:off x="658368" y="1280160"/>
          <a:ext cx="10835640" cy="4343400"/>
        </p:xfrm>
        <a:graphic>
          <a:graphicData uri="http://schemas.openxmlformats.org/drawingml/2006/table">
            <a:tbl>
              <a:tblPr firstRow="1" bandRow="1">
                <a:tableStyleId>{5C22544A-7EE6-4342-B048-85BDC9FD1C3A}</a:tableStyleId>
              </a:tblPr>
              <a:tblGrid>
                <a:gridCol w="1600200"/>
                <a:gridCol w="2880360"/>
                <a:gridCol w="6355080"/>
              </a:tblGrid>
              <a:tr h="868680">
                <a:tc>
                  <a:txBody>
                    <a:bodyPr/>
                    <a:lstStyle/>
                    <a:p>
                      <a:pPr algn="ctr"/>
                      <a:r>
                        <a:rPr sz="1220" b="1">
                          <a:solidFill>
                            <a:srgbClr val="FFFFFF"/>
                          </a:solidFill>
                          <a:latin typeface="Aptos"/>
                        </a:rPr>
                        <a:t>Dimension</a:t>
                      </a:r>
                    </a:p>
                  </a:txBody>
                  <a:tcPr>
                    <a:solidFill>
                      <a:srgbClr val="092540"/>
                    </a:solidFill>
                  </a:tcPr>
                </a:tc>
                <a:tc>
                  <a:txBody>
                    <a:bodyPr/>
                    <a:lstStyle/>
                    <a:p>
                      <a:pPr algn="ctr"/>
                      <a:r>
                        <a:rPr sz="1220" b="1">
                          <a:solidFill>
                            <a:srgbClr val="FFFFFF"/>
                          </a:solidFill>
                          <a:latin typeface="Aptos"/>
                        </a:rPr>
                        <a:t>Suggested metric</a:t>
                      </a:r>
                    </a:p>
                  </a:txBody>
                  <a:tcPr>
                    <a:solidFill>
                      <a:srgbClr val="092540"/>
                    </a:solidFill>
                  </a:tcPr>
                </a:tc>
                <a:tc>
                  <a:txBody>
                    <a:bodyPr/>
                    <a:lstStyle/>
                    <a:p>
                      <a:pPr algn="ctr"/>
                      <a:r>
                        <a:rPr sz="1220" b="1">
                          <a:solidFill>
                            <a:srgbClr val="FFFFFF"/>
                          </a:solidFill>
                          <a:latin typeface="Aptos"/>
                        </a:rPr>
                        <a:t>How to evaluate</a:t>
                      </a:r>
                    </a:p>
                  </a:txBody>
                  <a:tcPr>
                    <a:solidFill>
                      <a:srgbClr val="092540"/>
                    </a:solidFill>
                  </a:tcPr>
                </a:tc>
              </a:tr>
              <a:tr h="868680">
                <a:tc>
                  <a:txBody>
                    <a:bodyPr wrap="square" lIns="73152" rIns="45720" bIns="27432"/>
                    <a:lstStyle/>
                    <a:p>
                      <a:pPr algn="l"/>
                      <a:r>
                        <a:rPr sz="1100">
                          <a:solidFill>
                            <a:srgbClr val="1E293B"/>
                          </a:solidFill>
                          <a:latin typeface="Aptos"/>
                        </a:rPr>
                        <a:t>Efficiency</a:t>
                      </a:r>
                    </a:p>
                  </a:txBody>
                  <a:tcPr>
                    <a:solidFill>
                      <a:srgbClr val="FFFFFF"/>
                    </a:solidFill>
                  </a:tcPr>
                </a:tc>
                <a:tc>
                  <a:txBody>
                    <a:bodyPr wrap="square" lIns="73152" rIns="45720" bIns="27432"/>
                    <a:lstStyle/>
                    <a:p>
                      <a:pPr algn="l"/>
                      <a:r>
                        <a:rPr sz="1100">
                          <a:solidFill>
                            <a:srgbClr val="1E293B"/>
                          </a:solidFill>
                          <a:latin typeface="Aptos"/>
                        </a:rPr>
                        <a:t>Hands-on time for comparable tasks</a:t>
                      </a:r>
                    </a:p>
                  </a:txBody>
                  <a:tcPr>
                    <a:solidFill>
                      <a:srgbClr val="FFFFFF"/>
                    </a:solidFill>
                  </a:tcPr>
                </a:tc>
                <a:tc>
                  <a:txBody>
                    <a:bodyPr wrap="square" lIns="73152" rIns="45720" bIns="27432"/>
                    <a:lstStyle/>
                    <a:p>
                      <a:pPr algn="l"/>
                      <a:r>
                        <a:rPr sz="1100">
                          <a:solidFill>
                            <a:srgbClr val="1E293B"/>
                          </a:solidFill>
                          <a:latin typeface="Aptos"/>
                        </a:rPr>
                        <a:t>Compare equivalent manual and tool-assisted workflows, including preparation, review, and correction; record machine wait separately</a:t>
                      </a:r>
                    </a:p>
                  </a:txBody>
                  <a:tcPr>
                    <a:solidFill>
                      <a:srgbClr val="FFFFFF"/>
                    </a:solidFill>
                  </a:tcPr>
                </a:tc>
              </a:tr>
              <a:tr h="868680">
                <a:tc>
                  <a:txBody>
                    <a:bodyPr wrap="square" lIns="73152" rIns="45720" bIns="27432"/>
                    <a:lstStyle/>
                    <a:p>
                      <a:pPr algn="l"/>
                      <a:r>
                        <a:rPr sz="1100">
                          <a:solidFill>
                            <a:srgbClr val="1E293B"/>
                          </a:solidFill>
                          <a:latin typeface="Aptos"/>
                        </a:rPr>
                        <a:t>Quality</a:t>
                      </a:r>
                    </a:p>
                  </a:txBody>
                  <a:tcPr>
                    <a:solidFill>
                      <a:srgbClr val="E4EEF8"/>
                    </a:solidFill>
                  </a:tcPr>
                </a:tc>
                <a:tc>
                  <a:txBody>
                    <a:bodyPr wrap="square" lIns="73152" rIns="45720" bIns="27432"/>
                    <a:lstStyle/>
                    <a:p>
                      <a:pPr algn="l"/>
                      <a:r>
                        <a:rPr sz="1100">
                          <a:solidFill>
                            <a:srgbClr val="1E293B"/>
                          </a:solidFill>
                          <a:latin typeface="Aptos"/>
                        </a:rPr>
                        <a:t>Rework and review findings</a:t>
                      </a:r>
                    </a:p>
                  </a:txBody>
                  <a:tcPr>
                    <a:solidFill>
                      <a:srgbClr val="E4EEF8"/>
                    </a:solidFill>
                  </a:tcPr>
                </a:tc>
                <a:tc>
                  <a:txBody>
                    <a:bodyPr wrap="square" lIns="73152" rIns="45720" bIns="27432"/>
                    <a:lstStyle/>
                    <a:p>
                      <a:pPr algn="l"/>
                      <a:r>
                        <a:rPr sz="1100">
                          <a:solidFill>
                            <a:srgbClr val="1E293B"/>
                          </a:solidFill>
                          <a:latin typeface="Aptos"/>
                        </a:rPr>
                        <a:t>Track misses, false alarms, and correction causes rather than only whether generation succeeded</a:t>
                      </a:r>
                    </a:p>
                  </a:txBody>
                  <a:tcPr>
                    <a:solidFill>
                      <a:srgbClr val="E4EEF8"/>
                    </a:solidFill>
                  </a:tcPr>
                </a:tc>
              </a:tr>
              <a:tr h="868680">
                <a:tc>
                  <a:txBody>
                    <a:bodyPr wrap="square" lIns="73152" rIns="45720" bIns="27432"/>
                    <a:lstStyle/>
                    <a:p>
                      <a:pPr algn="l"/>
                      <a:r>
                        <a:rPr sz="1100">
                          <a:solidFill>
                            <a:srgbClr val="1E293B"/>
                          </a:solidFill>
                          <a:latin typeface="Aptos"/>
                        </a:rPr>
                        <a:t>Adoption</a:t>
                      </a:r>
                    </a:p>
                  </a:txBody>
                  <a:tcPr>
                    <a:solidFill>
                      <a:srgbClr val="FFFFFF"/>
                    </a:solidFill>
                  </a:tcPr>
                </a:tc>
                <a:tc>
                  <a:txBody>
                    <a:bodyPr wrap="square" lIns="73152" rIns="45720" bIns="27432"/>
                    <a:lstStyle/>
                    <a:p>
                      <a:pPr algn="l"/>
                      <a:r>
                        <a:rPr sz="1100">
                          <a:solidFill>
                            <a:srgbClr val="1E293B"/>
                          </a:solidFill>
                          <a:latin typeface="Aptos"/>
                        </a:rPr>
                        <a:t>Actual usage and users</a:t>
                      </a:r>
                    </a:p>
                  </a:txBody>
                  <a:tcPr>
                    <a:solidFill>
                      <a:srgbClr val="FFFFFF"/>
                    </a:solidFill>
                  </a:tcPr>
                </a:tc>
                <a:tc>
                  <a:txBody>
                    <a:bodyPr wrap="square" lIns="73152" rIns="45720" bIns="27432"/>
                    <a:lstStyle/>
                    <a:p>
                      <a:pPr algn="l"/>
                      <a:r>
                        <a:rPr sz="1100">
                          <a:solidFill>
                            <a:srgbClr val="1E293B"/>
                          </a:solidFill>
                          <a:latin typeface="Aptos"/>
                        </a:rPr>
                        <a:t>Separate author usage from independent team usage before claiming broader value</a:t>
                      </a:r>
                    </a:p>
                  </a:txBody>
                  <a:tcPr>
                    <a:solidFill>
                      <a:srgbClr val="FFFFFF"/>
                    </a:solidFill>
                  </a:tcPr>
                </a:tc>
              </a:tr>
              <a:tr h="868680">
                <a:tc>
                  <a:txBody>
                    <a:bodyPr wrap="square" lIns="73152" rIns="45720" bIns="27432"/>
                    <a:lstStyle/>
                    <a:p>
                      <a:pPr algn="l"/>
                      <a:r>
                        <a:rPr sz="1100">
                          <a:solidFill>
                            <a:srgbClr val="1E293B"/>
                          </a:solidFill>
                          <a:latin typeface="Aptos"/>
                        </a:rPr>
                        <a:t>Cost</a:t>
                      </a:r>
                    </a:p>
                  </a:txBody>
                  <a:tcPr>
                    <a:solidFill>
                      <a:srgbClr val="E4EEF8"/>
                    </a:solidFill>
                  </a:tcPr>
                </a:tc>
                <a:tc>
                  <a:txBody>
                    <a:bodyPr wrap="square" lIns="73152" rIns="45720" bIns="27432"/>
                    <a:lstStyle/>
                    <a:p>
                      <a:pPr algn="l"/>
                      <a:r>
                        <a:rPr sz="1100">
                          <a:solidFill>
                            <a:srgbClr val="1E293B"/>
                          </a:solidFill>
                          <a:latin typeface="Aptos"/>
                        </a:rPr>
                        <a:t>Maintenance, training, and review effort</a:t>
                      </a:r>
                    </a:p>
                  </a:txBody>
                  <a:tcPr>
                    <a:solidFill>
                      <a:srgbClr val="E4EEF8"/>
                    </a:solidFill>
                  </a:tcPr>
                </a:tc>
                <a:tc>
                  <a:txBody>
                    <a:bodyPr wrap="square" lIns="73152" rIns="45720" bIns="27432"/>
                    <a:lstStyle/>
                    <a:p>
                      <a:pPr algn="l"/>
                      <a:r>
                        <a:rPr sz="1100">
                          <a:solidFill>
                            <a:srgbClr val="1E293B"/>
                          </a:solidFill>
                          <a:latin typeface="Aptos"/>
                        </a:rPr>
                        <a:t>Assess support cost alongside any savings to judge net value</a:t>
                      </a:r>
                    </a:p>
                  </a:txBody>
                  <a:tcPr>
                    <a:solidFill>
                      <a:srgbClr val="E4EEF8"/>
                    </a:solidFill>
                  </a:tcPr>
                </a:tc>
              </a:tr>
            </a:tbl>
          </a:graphicData>
        </a:graphic>
      </p:graphicFrame>
      <p:sp>
        <p:nvSpPr>
          <p:cNvPr id="10" name="Rounded Rectangle 9"/>
          <p:cNvSpPr/>
          <p:nvPr/>
        </p:nvSpPr>
        <p:spPr>
          <a:xfrm>
            <a:off x="594360" y="5779008"/>
            <a:ext cx="10972800" cy="566928"/>
          </a:xfrm>
          <a:prstGeom prst="roundRect">
            <a:avLst/>
          </a:prstGeom>
          <a:solidFill>
            <a:srgbClr val="EAF4FF"/>
          </a:solidFill>
          <a:ln w="1270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861304"/>
            <a:ext cx="10652760" cy="384048"/>
          </a:xfrm>
          <a:prstGeom prst="rect">
            <a:avLst/>
          </a:prstGeom>
          <a:noFill/>
        </p:spPr>
        <p:txBody>
          <a:bodyPr wrap="square" anchor="t" rIns="73152" tIns="36576" bIns="18288">
            <a:spAutoFit/>
          </a:bodyPr>
          <a:lstStyle/>
          <a:p>
            <a:pPr algn="ctr">
              <a:lnSpc>
                <a:spcPct val="108000"/>
              </a:lnSpc>
              <a:spcAft>
                <a:spcPts val="150"/>
              </a:spcAft>
            </a:pPr>
            <a:r>
              <a:rPr sz="1400" b="1">
                <a:solidFill>
                  <a:srgbClr val="092540"/>
                </a:solidFill>
                <a:latin typeface="Aptos"/>
              </a:rPr>
              <a:t>No measured hours saved, percentage improvement, or ROI is claimed yet.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09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91695"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7223760" cy="320040"/>
          </a:xfrm>
          <a:prstGeom prst="rect">
            <a:avLst/>
          </a:prstGeom>
          <a:noFill/>
        </p:spPr>
        <p:txBody>
          <a:bodyPr wrap="square" anchor="t" rIns="73152" tIns="36576" bIns="18288">
            <a:spAutoFit/>
          </a:bodyPr>
          <a:lstStyle/>
          <a:p>
            <a:pPr algn="l">
              <a:lnSpc>
                <a:spcPct val="108000"/>
              </a:lnSpc>
              <a:spcAft>
                <a:spcPts val="150"/>
              </a:spcAft>
            </a:pPr>
            <a:r>
              <a:rPr sz="2400" b="1">
                <a:solidFill>
                  <a:srgbClr val="FFFFFF"/>
                </a:solidFill>
                <a:latin typeface="Aptos"/>
              </a:rPr>
              <a:t>Next Steps and Support Needed</a:t>
            </a:r>
          </a:p>
        </p:txBody>
      </p:sp>
      <p:sp>
        <p:nvSpPr>
          <p:cNvPr id="5" name="TextBox 4"/>
          <p:cNvSpPr txBox="1"/>
          <p:nvPr/>
        </p:nvSpPr>
        <p:spPr>
          <a:xfrm>
            <a:off x="521207" y="429768"/>
            <a:ext cx="7406640" cy="182880"/>
          </a:xfrm>
          <a:prstGeom prst="rect">
            <a:avLst/>
          </a:prstGeom>
          <a:noFill/>
        </p:spPr>
        <p:txBody>
          <a:bodyPr wrap="square" anchor="t" rIns="73152" tIns="36576" bIns="18288">
            <a:spAutoFit/>
          </a:bodyPr>
          <a:lstStyle/>
          <a:p>
            <a:pPr algn="l">
              <a:lnSpc>
                <a:spcPct val="108000"/>
              </a:lnSpc>
              <a:spcAft>
                <a:spcPts val="150"/>
              </a:spcAft>
            </a:pPr>
            <a:r>
              <a:rPr sz="1050" b="0">
                <a:solidFill>
                  <a:srgbClr val="DCE9F7"/>
                </a:solidFill>
                <a:latin typeface="Aptos"/>
              </a:rPr>
              <a:t>Proposed small-scope pilot plan: validate first, then expand</a:t>
            </a:r>
          </a:p>
        </p:txBody>
      </p:sp>
      <p:sp>
        <p:nvSpPr>
          <p:cNvPr id="6" name="Rectangle 5"/>
          <p:cNvSpPr/>
          <p:nvPr/>
        </p:nvSpPr>
        <p:spPr>
          <a:xfrm>
            <a:off x="502920" y="6419088"/>
            <a:ext cx="11155680" cy="18288"/>
          </a:xfrm>
          <a:prstGeom prst="rect">
            <a:avLst/>
          </a:prstGeom>
          <a:solidFill>
            <a:srgbClr val="C0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46520"/>
            <a:ext cx="3840480" cy="164592"/>
          </a:xfrm>
          <a:prstGeom prst="rect">
            <a:avLst/>
          </a:prstGeom>
          <a:noFill/>
        </p:spPr>
        <p:txBody>
          <a:bodyPr wrap="square" anchor="t" rIns="73152" tIns="36576" bIns="18288">
            <a:spAutoFit/>
          </a:bodyPr>
          <a:lstStyle/>
          <a:p>
            <a:pPr algn="l">
              <a:lnSpc>
                <a:spcPct val="108000"/>
              </a:lnSpc>
              <a:spcAft>
                <a:spcPts val="150"/>
              </a:spcAft>
            </a:pPr>
            <a:r>
              <a:rPr sz="900" b="0">
                <a:solidFill>
                  <a:srgbClr val="5A6573"/>
                </a:solidFill>
                <a:latin typeface="Aptos"/>
              </a:rPr>
              <a:t>Ray Liu | September 2026</a:t>
            </a:r>
          </a:p>
        </p:txBody>
      </p:sp>
      <p:sp>
        <p:nvSpPr>
          <p:cNvPr id="8" name="TextBox 7"/>
          <p:cNvSpPr txBox="1"/>
          <p:nvPr/>
        </p:nvSpPr>
        <p:spPr>
          <a:xfrm>
            <a:off x="10424160" y="6446520"/>
            <a:ext cx="1005840" cy="164592"/>
          </a:xfrm>
          <a:prstGeom prst="rect">
            <a:avLst/>
          </a:prstGeom>
          <a:noFill/>
        </p:spPr>
        <p:txBody>
          <a:bodyPr wrap="square" anchor="t" rIns="73152" tIns="36576" bIns="18288">
            <a:spAutoFit/>
          </a:bodyPr>
          <a:lstStyle/>
          <a:p>
            <a:pPr algn="r">
              <a:lnSpc>
                <a:spcPct val="108000"/>
              </a:lnSpc>
              <a:spcAft>
                <a:spcPts val="150"/>
              </a:spcAft>
            </a:pPr>
            <a:r>
              <a:rPr sz="900" b="0">
                <a:solidFill>
                  <a:srgbClr val="5A6573"/>
                </a:solidFill>
                <a:latin typeface="Aptos"/>
              </a:rPr>
              <a:t>6</a:t>
            </a:r>
          </a:p>
        </p:txBody>
      </p:sp>
      <p:sp>
        <p:nvSpPr>
          <p:cNvPr id="9" name="Rounded Rectangle 8"/>
          <p:cNvSpPr/>
          <p:nvPr/>
        </p:nvSpPr>
        <p:spPr>
          <a:xfrm>
            <a:off x="822960" y="1554480"/>
            <a:ext cx="4983480" cy="36118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1554480"/>
            <a:ext cx="4983480"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664208"/>
            <a:ext cx="4837176" cy="329184"/>
          </a:xfrm>
          <a:prstGeom prst="rect">
            <a:avLst/>
          </a:prstGeom>
          <a:noFill/>
        </p:spPr>
        <p:txBody>
          <a:bodyPr wrap="square" anchor="t" rIns="73152" tIns="36576" bIns="18288">
            <a:spAutoFit/>
          </a:bodyPr>
          <a:lstStyle/>
          <a:p>
            <a:pPr algn="l">
              <a:lnSpc>
                <a:spcPct val="108000"/>
              </a:lnSpc>
              <a:spcAft>
                <a:spcPts val="150"/>
              </a:spcAft>
            </a:pPr>
            <a:r>
              <a:rPr sz="1500" b="1">
                <a:solidFill>
                  <a:srgbClr val="092540"/>
                </a:solidFill>
                <a:latin typeface="Aptos"/>
              </a:rPr>
              <a:t>Proposed pilot steps</a:t>
            </a:r>
          </a:p>
        </p:txBody>
      </p:sp>
      <p:sp>
        <p:nvSpPr>
          <p:cNvPr id="12" name="TextBox 11"/>
          <p:cNvSpPr txBox="1"/>
          <p:nvPr/>
        </p:nvSpPr>
        <p:spPr>
          <a:xfrm>
            <a:off x="914400" y="2011680"/>
            <a:ext cx="4800600" cy="3081528"/>
          </a:xfrm>
          <a:prstGeom prst="rect">
            <a:avLst/>
          </a:prstGeom>
          <a:noFill/>
        </p:spPr>
        <p:txBody>
          <a:bodyPr wrap="square" anchor="t" rIns="73152" tIns="36576" bIns="18288">
            <a:spAutoFit/>
          </a:bodyPr>
          <a:lstStyle/>
          <a:p>
            <a:pPr algn="l">
              <a:lnSpc>
                <a:spcPct val="103000"/>
              </a:lnSpc>
              <a:spcAft>
                <a:spcPts val="150"/>
              </a:spcAft>
            </a:pPr>
            <a:r>
              <a:rPr sz="1140" b="0">
                <a:solidFill>
                  <a:srgbClr val="1E293B"/>
                </a:solidFill>
                <a:latin typeface="Aptos"/>
              </a:rPr>
              <a:t>Select stable-rule, high-frequency pilot tasks and name both pilot and acceptance owners</a:t>
            </a:r>
          </a:p>
          <a:p>
            <a:pPr algn="l">
              <a:lnSpc>
                <a:spcPct val="103000"/>
              </a:lnSpc>
              <a:spcAft>
                <a:spcPts val="150"/>
              </a:spcAft>
            </a:pPr>
            <a:r>
              <a:rPr sz="1140" b="0">
                <a:solidFill>
                  <a:srgbClr val="1E293B"/>
                </a:solidFill>
                <a:latin typeface="Aptos"/>
              </a:rPr>
              <a:t>Use approved synthetic or sanitized examples instead of proprietary customer data</a:t>
            </a:r>
          </a:p>
          <a:p>
            <a:pPr algn="l">
              <a:lnSpc>
                <a:spcPct val="103000"/>
              </a:lnSpc>
              <a:spcAft>
                <a:spcPts val="150"/>
              </a:spcAft>
            </a:pPr>
            <a:r>
              <a:rPr sz="1140" b="0">
                <a:solidFill>
                  <a:srgbClr val="1E293B"/>
                </a:solidFill>
                <a:latin typeface="Aptos"/>
              </a:rPr>
              <a:t>Establish a manual/tool baseline plus exception, review, and rework records</a:t>
            </a:r>
          </a:p>
          <a:p>
            <a:pPr algn="l">
              <a:lnSpc>
                <a:spcPct val="103000"/>
              </a:lnSpc>
              <a:spcAft>
                <a:spcPts val="150"/>
              </a:spcAft>
            </a:pPr>
            <a:r>
              <a:rPr sz="1140" b="0">
                <a:solidFill>
                  <a:srgbClr val="1E293B"/>
                </a:solidFill>
                <a:latin typeface="Aptos"/>
              </a:rPr>
              <a:t>Evaluate efficiency, quality, and maintenance against agreed acceptance criteria before expanding</a:t>
            </a:r>
          </a:p>
        </p:txBody>
      </p:sp>
      <p:sp>
        <p:nvSpPr>
          <p:cNvPr id="13" name="Rounded Rectangle 12"/>
          <p:cNvSpPr/>
          <p:nvPr/>
        </p:nvSpPr>
        <p:spPr>
          <a:xfrm>
            <a:off x="6400800" y="1554480"/>
            <a:ext cx="4983480" cy="3611880"/>
          </a:xfrm>
          <a:prstGeom prst="roundRect">
            <a:avLst/>
          </a:prstGeom>
          <a:solidFill>
            <a:srgbClr val="FFFFFF"/>
          </a:solidFill>
          <a:ln w="1524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554480"/>
            <a:ext cx="4983480" cy="73152"/>
          </a:xfrm>
          <a:prstGeom prst="rect">
            <a:avLst/>
          </a:prstGeom>
          <a:solidFill>
            <a:srgbClr val="166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664208"/>
            <a:ext cx="4837176" cy="329184"/>
          </a:xfrm>
          <a:prstGeom prst="rect">
            <a:avLst/>
          </a:prstGeom>
          <a:noFill/>
        </p:spPr>
        <p:txBody>
          <a:bodyPr wrap="square" anchor="t" rIns="73152" tIns="36576" bIns="18288">
            <a:spAutoFit/>
          </a:bodyPr>
          <a:lstStyle/>
          <a:p>
            <a:pPr algn="l">
              <a:lnSpc>
                <a:spcPct val="108000"/>
              </a:lnSpc>
              <a:spcAft>
                <a:spcPts val="150"/>
              </a:spcAft>
            </a:pPr>
            <a:r>
              <a:rPr sz="1500" b="1">
                <a:solidFill>
                  <a:srgbClr val="092540"/>
                </a:solidFill>
                <a:latin typeface="Aptos"/>
              </a:rPr>
              <a:t>Support requested</a:t>
            </a:r>
          </a:p>
        </p:txBody>
      </p:sp>
      <p:sp>
        <p:nvSpPr>
          <p:cNvPr id="16" name="TextBox 15"/>
          <p:cNvSpPr txBox="1"/>
          <p:nvPr/>
        </p:nvSpPr>
        <p:spPr>
          <a:xfrm>
            <a:off x="6492240" y="2011680"/>
            <a:ext cx="4800600" cy="3081528"/>
          </a:xfrm>
          <a:prstGeom prst="rect">
            <a:avLst/>
          </a:prstGeom>
          <a:noFill/>
        </p:spPr>
        <p:txBody>
          <a:bodyPr wrap="square" anchor="t" rIns="73152" tIns="36576" bIns="18288">
            <a:spAutoFit/>
          </a:bodyPr>
          <a:lstStyle/>
          <a:p>
            <a:pPr algn="l">
              <a:lnSpc>
                <a:spcPct val="103000"/>
              </a:lnSpc>
              <a:spcAft>
                <a:spcPts val="150"/>
              </a:spcAft>
            </a:pPr>
            <a:r>
              <a:rPr sz="1140" b="0">
                <a:solidFill>
                  <a:srgbClr val="1E293B"/>
                </a:solidFill>
                <a:latin typeface="Aptos"/>
              </a:rPr>
              <a:t>Confirm pilot participants and business contacts</a:t>
            </a:r>
          </a:p>
          <a:p>
            <a:pPr algn="l">
              <a:lnSpc>
                <a:spcPct val="103000"/>
              </a:lnSpc>
              <a:spcAft>
                <a:spcPts val="150"/>
              </a:spcAft>
            </a:pPr>
            <a:r>
              <a:rPr sz="1140" b="0">
                <a:solidFill>
                  <a:srgbClr val="1E293B"/>
                </a:solidFill>
                <a:latin typeface="Aptos"/>
              </a:rPr>
              <a:t>Approve the example scope that can be used for demonstration and validation</a:t>
            </a:r>
          </a:p>
          <a:p>
            <a:pPr algn="l">
              <a:lnSpc>
                <a:spcPct val="103000"/>
              </a:lnSpc>
              <a:spcAft>
                <a:spcPts val="150"/>
              </a:spcAft>
            </a:pPr>
            <a:r>
              <a:rPr sz="1140" b="0">
                <a:solidFill>
                  <a:srgbClr val="1E293B"/>
                </a:solidFill>
                <a:latin typeface="Aptos"/>
              </a:rPr>
              <a:t>Schedule a results review to decide whether a next phase is justified</a:t>
            </a:r>
          </a:p>
          <a:p>
            <a:pPr algn="l">
              <a:lnSpc>
                <a:spcPct val="103000"/>
              </a:lnSpc>
              <a:spcAft>
                <a:spcPts val="150"/>
              </a:spcAft>
            </a:pPr>
            <a:r>
              <a:rPr sz="1140" b="0">
                <a:solidFill>
                  <a:srgbClr val="1E293B"/>
                </a:solidFill>
                <a:latin typeface="Aptos"/>
              </a:rPr>
              <a:t>Agree which conclusions require independent team validation before expansion</a:t>
            </a:r>
          </a:p>
        </p:txBody>
      </p:sp>
      <p:sp>
        <p:nvSpPr>
          <p:cNvPr id="17" name="Rounded Rectangle 16"/>
          <p:cNvSpPr/>
          <p:nvPr/>
        </p:nvSpPr>
        <p:spPr>
          <a:xfrm>
            <a:off x="594360" y="5532120"/>
            <a:ext cx="10972800" cy="566928"/>
          </a:xfrm>
          <a:prstGeom prst="roundRect">
            <a:avLst/>
          </a:prstGeom>
          <a:solidFill>
            <a:srgbClr val="EAF4FF"/>
          </a:solidFill>
          <a:ln w="12700">
            <a:solidFill>
              <a:srgbClr val="C0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614416"/>
            <a:ext cx="10652760" cy="384048"/>
          </a:xfrm>
          <a:prstGeom prst="rect">
            <a:avLst/>
          </a:prstGeom>
          <a:noFill/>
        </p:spPr>
        <p:txBody>
          <a:bodyPr wrap="square" anchor="t" rIns="73152" tIns="36576" bIns="18288">
            <a:spAutoFit/>
          </a:bodyPr>
          <a:lstStyle/>
          <a:p>
            <a:pPr algn="ctr">
              <a:lnSpc>
                <a:spcPct val="108000"/>
              </a:lnSpc>
              <a:spcAft>
                <a:spcPts val="150"/>
              </a:spcAft>
            </a:pPr>
            <a:r>
              <a:rPr sz="1400" b="1">
                <a:solidFill>
                  <a:srgbClr val="092540"/>
                </a:solidFill>
                <a:latin typeface="Aptos"/>
              </a:rPr>
              <a:t>This is a proposed plan, not an approved rollout; expansion should follow pilot results and agreed acceptance criteria.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Engineering Automation: Deliverables and Business Value</dc:title>
  <dc:subject>MiniOps management presentation</dc:subject>
  <dc:creator>Ray Liu</dc:creator>
  <cp:keywords/>
  <dc:description>Generated by make_miniops_ppt.py</dc:description>
  <cp:lastModifiedBy>Steve Canny</cp:lastModifiedBy>
  <cp:revision>1</cp:revision>
  <dcterms:created xsi:type="dcterms:W3CDTF">2013-01-27T09:14:16Z</dcterms:created>
  <dcterms:modified xsi:type="dcterms:W3CDTF">2013-01-27T09:15:58Z</dcterms:modified>
  <cp:category>Presentation</cp:category>
</cp:coreProperties>
</file>