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 minute</a:t>
            </a:r>
          </a:p>
          <a:p>
            <a:r>
              <a:t>讲稿：这一页先给管理层一个结论。当前已经形成四个面向具体任务的工具：可视化配置生成、自然语言到 .pcar、DVS STIL 预处理，以及 scan pin 检查。这里可以明确区分两类结论：第一类是已经交付、可以演示和复现的工具能力；第二类是团队级效率、质量和采用价值，这些还需要后续用试点数据验证。今天不报告节省工时、效率百分比或 ROI，因为目前没有完成对等基线测量。</a:t>
            </a:r>
          </a:p>
          <a:p/>
          <a:p>
            <a:r>
              <a:t>可确认内容：当前仓库中的 Web UI 功能已在本地读取代码核对；其余三项能力引用公开仓库的 README 或技能说明，不涉及内网材料。</a:t>
            </a:r>
          </a:p>
          <a:p/>
          <a:p>
            <a:r>
              <a:t>Sources:</a:t>
            </a:r>
          </a:p>
          <a:p>
            <a:r>
              <a:t>- https://github.com/Ray-Liu-intel/-PCAR3-Python-Code-Generator</a:t>
            </a:r>
          </a:p>
          <a:p>
            <a:r>
              <a:t>- https://github.com/Ray-Liu-intel/PCAR3-Natural-Language-to-Plist</a:t>
            </a:r>
          </a:p>
          <a:p>
            <a:r>
              <a:t>- https://github.com/Ray-Liu-intel/DVS-STIL-Preprocessor</a:t>
            </a:r>
          </a:p>
          <a:p>
            <a:r>
              <a:t>- https://github.com/Ray-Liu-intel/stil-scan-pin-checker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 minute</a:t>
            </a:r>
          </a:p>
          <a:p>
            <a:r>
              <a:t>讲稿：第二页解释为什么这些工作值得做，但仍然避免夸大。这里强调的是任务特征，例如 PLB 结构、Pattern 模式、DVS trigger 序列和 scan pin 归属检查本身具有重复性和规则性，所以适合工具化。这里不把这些任务直接描述成已经造成了多少损失，也不暗示自动化会替代工程判断。相反，更准确的说法是：工具先承担重复规则执行，工程师继续负责需求澄清、异常判断和最终接收。</a:t>
            </a:r>
          </a:p>
          <a:p/>
          <a:p>
            <a:r>
              <a:t>Sources:</a:t>
            </a:r>
          </a:p>
          <a:p>
            <a:r>
              <a:t>- https://github.com/Ray-Liu-intel/-PCAR3-Python-Code-Generator/blob/main/README.md</a:t>
            </a:r>
          </a:p>
          <a:p>
            <a:r>
              <a:t>- https://github.com/Ray-Liu-intel/DVS-STIL-Preprocessor/blob/main/README.md</a:t>
            </a:r>
          </a:p>
          <a:p>
            <a:r>
              <a:t>- https://github.com/Ray-Liu-intel/stil-scan-pin-checker/blob/main/README.md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 minutes</a:t>
            </a:r>
          </a:p>
          <a:p>
            <a:r>
              <a:t>讲稿：这一页是汇报核心，需要逐项讲清楚。第一项，当前仓库内的 Web UI 已从 HTML 代码核对，确实包含 loop partition、if/elif/else 条件块、拖拽和 localStorage 自动保存/恢复。第二项，自然语言 skill 的公开文档说明它可以生成 .pcar，并在具备 FLASH MCP 时继续做 pattern 解析、构建提交、状态轮询和实际 Pat 内容检查；这里要明确说明，这是公开仓库文档中描述的交付能力，不代表我在本次环境独立跑通了外部构建。第三和第四项同样要强调：交付的是规则、CLI 和技能能力；业务价值仍需通过试点测量。</a:t>
            </a:r>
          </a:p>
          <a:p/>
          <a:p>
            <a:r>
              <a:t>Sources:</a:t>
            </a:r>
          </a:p>
          <a:p>
            <a:r>
              <a:t>- https://github.com/Ray-Liu-intel/-PCAR3-Python-Code-Generator/blob/main/Core%20Code2.0.HTML</a:t>
            </a:r>
          </a:p>
          <a:p>
            <a:r>
              <a:t>- https://github.com/Ray-Liu-intel/PCAR3-Natural-Language-to-Plist/blob/main/README.md</a:t>
            </a:r>
          </a:p>
          <a:p>
            <a:r>
              <a:t>- https://github.com/Ray-Liu-intel/DVS-STIL-Preprocessor/blob/main/README.md</a:t>
            </a:r>
          </a:p>
          <a:p>
            <a:r>
              <a:t>- https://github.com/Ray-Liu-intel/stil-scan-pin-checker/blob/main/README.md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 minutes</a:t>
            </a:r>
          </a:p>
          <a:p>
            <a:r>
              <a:t>讲稿：这一页的重点是风险控制。管理层通常更关注边界是否说清楚。DVS 工具侧重保护输入和拒绝坏输入；PList 相关能力强调不能只看作业完成状态，而要检查是否真的有 Pat 内容；scan pin 检查强调结果是 membership check，而不是更广义的时序或电气签核。这里还要补充说明 scan pin 工具的四类状态：PASS 表示发现数据引脚且全部属于允许集合；FAIL 表示至少一个超出允许集合；UNDETERMINED 表示没有发现声明的数据引脚；ERROR 表示配置、解析或读取失败。这样可以防止管理层把 PASS 误解为“已可上机”。</a:t>
            </a:r>
          </a:p>
          <a:p/>
          <a:p>
            <a:r>
              <a:t>Sources:</a:t>
            </a:r>
          </a:p>
          <a:p>
            <a:r>
              <a:t>- https://github.com/Ray-Liu-intel/PCAR3-Natural-Language-to-Plist/blob/main/README.md</a:t>
            </a:r>
          </a:p>
          <a:p>
            <a:r>
              <a:t>- https://github.com/Ray-Liu-intel/DVS-STIL-Preprocessor/blob/main/README.md</a:t>
            </a:r>
          </a:p>
          <a:p>
            <a:r>
              <a:t>- https://github.com/Ray-Liu-intel/stil-scan-pin-checker/blob/main/README.md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 minutes</a:t>
            </a:r>
          </a:p>
          <a:p>
            <a:r>
              <a:t>讲稿：这页回答“结果怎么衡量”。为了避免价值叙述失真，建议把效率、质量、采用和成本拆开记录。效率不能只算脚本执行时间，而要用完整任务流程比较，包括准备、复核和纠错；同时把机器等待和人工操作分开。质量要记录返工原因、误报和遗漏，而不是只统计是否成功生成。采用要区分作者本人使用和独立团队使用。成本则要把维护、培训和评审投入算进去。只有这样，后续说“值得推广”才有依据。</a:t>
            </a:r>
          </a:p>
          <a:p/>
          <a:p>
            <a:r>
              <a:t>Sources:</a:t>
            </a:r>
          </a:p>
          <a:p>
            <a:r>
              <a:t>- https://github.com/Ray-Liu-intel/-PCAR3-Python-Code-Generator</a:t>
            </a:r>
          </a:p>
          <a:p>
            <a:r>
              <a:t>- https://github.com/Ray-Liu-intel/PCAR3-Natural-Language-to-Plist</a:t>
            </a:r>
          </a:p>
          <a:p>
            <a:r>
              <a:t>- https://github.com/Ray-Liu-intel/DVS-STIL-Preprocessor</a:t>
            </a:r>
          </a:p>
          <a:p>
            <a:r>
              <a:t>- https://github.com/Ray-Liu-intel/stil-scan-pin-checker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 minute</a:t>
            </a:r>
          </a:p>
          <a:p>
            <a:r>
              <a:t>讲稿：最后一页只提一个可执行的下一步：用小范围试点来回答价值问题。建议从规则稳定、发生频率高的任务开始，提前指定试点和验收负责人，并使用经过批准的合成或脱敏样例，避免任何客户或内部敏感数据外露。试点期间，把人工基线、工具结果、异常和返工原因都记录下来。完成后再做一次结果复盘，决定是否扩大范围。这样既避免一次性大规模推广的风险，也能给后续资源投入提供更清晰依据。</a:t>
            </a:r>
          </a:p>
          <a:p/>
          <a:p>
            <a:r>
              <a:t>Sources:</a:t>
            </a:r>
          </a:p>
          <a:p>
            <a:r>
              <a:t>- https://github.com/Ray-Liu-intel/-PCAR3-Python-Code-Generator</a:t>
            </a:r>
          </a:p>
          <a:p>
            <a:r>
              <a:t>- https://github.com/Ray-Liu-intel/PCAR3-Natural-Language-to-Plist</a:t>
            </a:r>
          </a:p>
          <a:p>
            <a:r>
              <a:t>- https://github.com/Ray-Liu-intel/DVS-STIL-Preprocessor</a:t>
            </a:r>
          </a:p>
          <a:p>
            <a:r>
              <a:t>- https://github.com/Ray-Liu-intel/stil-scan-pin-checker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223760" cy="32004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测试工程自动化：交付成果与业务价值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29768"/>
            <a:ext cx="7406640" cy="18288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050" b="0">
                <a:solidFill>
                  <a:srgbClr val="DCE9F7"/>
                </a:solidFill>
                <a:latin typeface="Microsoft YaHei"/>
              </a:rPr>
              <a:t>MiniOps 管理层汇报｜10 分钟｜双语可编辑交付物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C0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Ray Liu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0584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960120"/>
            <a:ext cx="1097280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042416"/>
            <a:ext cx="10652760" cy="38404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150"/>
              </a:spcAft>
            </a:pPr>
            <a:r>
              <a:rPr sz="1400" b="1">
                <a:solidFill>
                  <a:srgbClr val="092540"/>
                </a:solidFill>
                <a:latin typeface="Microsoft YaHei"/>
              </a:rPr>
              <a:t>四个工具已交付；下一步是验证团队级价值，而不是提前宣称收益数字。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83080"/>
            <a:ext cx="528523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83080"/>
            <a:ext cx="5285232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92808"/>
            <a:ext cx="5138928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450" b="1">
                <a:solidFill>
                  <a:srgbClr val="092540"/>
                </a:solidFill>
                <a:latin typeface="Microsoft YaHei"/>
              </a:rPr>
              <a:t>可视化配置生成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40280"/>
            <a:ext cx="5102352" cy="125272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50" b="0">
                <a:solidFill>
                  <a:srgbClr val="1E293B"/>
                </a:solidFill>
                <a:latin typeface="Microsoft YaHei"/>
              </a:rPr>
              <a:t>PCAR3 Web UI 生成 Python 配置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50" b="0">
                <a:solidFill>
                  <a:srgbClr val="1E293B"/>
                </a:solidFill>
                <a:latin typeface="Microsoft YaHei"/>
              </a:rPr>
              <a:t>支持多 PLB、Loop Partition、条件结构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783080"/>
            <a:ext cx="528523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783080"/>
            <a:ext cx="5285232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1892808"/>
            <a:ext cx="5138928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450" b="1">
                <a:solidFill>
                  <a:srgbClr val="092540"/>
                </a:solidFill>
                <a:latin typeface="Microsoft YaHei"/>
              </a:rPr>
              <a:t>自然语言 / 构建辅助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240280"/>
            <a:ext cx="5102352" cy="125272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50" b="0">
                <a:solidFill>
                  <a:srgbClr val="1E293B"/>
                </a:solidFill>
                <a:latin typeface="Microsoft YaHei"/>
              </a:rPr>
              <a:t>Copilot Skill 生成 .pcar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50" b="0">
                <a:solidFill>
                  <a:srgbClr val="1E293B"/>
                </a:solidFill>
                <a:latin typeface="Microsoft YaHei"/>
              </a:rPr>
              <a:t>可选查询 Pattern、提交构建并检查真实 Pat 输出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840480"/>
            <a:ext cx="528523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840480"/>
            <a:ext cx="5285232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50208"/>
            <a:ext cx="5138928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450" b="1">
                <a:solidFill>
                  <a:srgbClr val="092540"/>
                </a:solidFill>
                <a:latin typeface="Microsoft YaHei"/>
              </a:rPr>
              <a:t>DVS 预处理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297680"/>
            <a:ext cx="5102352" cy="125272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50" b="0">
                <a:solidFill>
                  <a:srgbClr val="1E293B"/>
                </a:solidFill>
                <a:latin typeface="Microsoft YaHei"/>
              </a:rPr>
              <a:t>CLI / Skill 处理 16 个 trigger 块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50" b="0">
                <a:solidFill>
                  <a:srgbClr val="1E293B"/>
                </a:solidFill>
                <a:latin typeface="Microsoft YaHei"/>
              </a:rPr>
              <a:t>支持 CCD / IOD / DRD，保留源文件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840480"/>
            <a:ext cx="528523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3840480"/>
            <a:ext cx="5285232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4" y="3950208"/>
            <a:ext cx="5138928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450" b="1">
                <a:solidFill>
                  <a:srgbClr val="092540"/>
                </a:solidFill>
                <a:latin typeface="Microsoft YaHei"/>
              </a:rPr>
              <a:t>Scan Pin 检查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297680"/>
            <a:ext cx="5102352" cy="125272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50" b="0">
                <a:solidFill>
                  <a:srgbClr val="1E293B"/>
                </a:solidFill>
                <a:latin typeface="Microsoft YaHei"/>
              </a:rPr>
              <a:t>只读提取 ScanIn / ScanOut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50" b="0">
                <a:solidFill>
                  <a:srgbClr val="1E293B"/>
                </a:solidFill>
                <a:latin typeface="Microsoft YaHei"/>
              </a:rPr>
              <a:t>输出可追踪 JSON 报告用于人工复核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223760" cy="32004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解决的问题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29768"/>
            <a:ext cx="7406640" cy="18288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050" b="0">
                <a:solidFill>
                  <a:srgbClr val="DCE9F7"/>
                </a:solidFill>
                <a:latin typeface="Microsoft YaHei"/>
              </a:rPr>
              <a:t>把重复规则工作转换为更一致、可复核的执行方式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C0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Ray Liu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0584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2761488" cy="43159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17320"/>
            <a:ext cx="2761488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27048"/>
            <a:ext cx="2615184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400" b="1">
                <a:solidFill>
                  <a:srgbClr val="092540"/>
                </a:solidFill>
                <a:latin typeface="Microsoft YaHei"/>
              </a:rPr>
              <a:t>重复的配置组织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874520"/>
            <a:ext cx="2578608" cy="3785616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20" b="0">
                <a:solidFill>
                  <a:srgbClr val="1E293B"/>
                </a:solidFill>
                <a:latin typeface="Microsoft YaHei"/>
              </a:rPr>
              <a:t>重复 PLB / Pattern / 条件配置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20" b="0">
                <a:solidFill>
                  <a:srgbClr val="1E293B"/>
                </a:solidFill>
                <a:latin typeface="Microsoft YaHei"/>
              </a:rPr>
              <a:t>对应方式：可视化或自然语言生成，减少重复结构录入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95928" y="1417320"/>
            <a:ext cx="2761488" cy="43159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95928" y="1417320"/>
            <a:ext cx="2761488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1527048"/>
            <a:ext cx="2615184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400" b="1">
                <a:solidFill>
                  <a:srgbClr val="092540"/>
                </a:solidFill>
                <a:latin typeface="Microsoft YaHei"/>
              </a:rPr>
              <a:t>复杂且易错的规则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1874520"/>
            <a:ext cx="2578608" cy="3785616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20" b="0">
                <a:solidFill>
                  <a:srgbClr val="1E293B"/>
                </a:solidFill>
                <a:latin typeface="Microsoft YaHei"/>
              </a:rPr>
              <a:t>DVS cycle / trigger / pin 规则多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20" b="0">
                <a:solidFill>
                  <a:srgbClr val="1E293B"/>
                </a:solidFill>
                <a:latin typeface="Microsoft YaHei"/>
              </a:rPr>
              <a:t>对应方式：参数化处理和输入检查，避免静默偏差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3488" y="1417320"/>
            <a:ext cx="2761488" cy="43159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33488" y="1417320"/>
            <a:ext cx="2761488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527048"/>
            <a:ext cx="2615184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400" b="1">
                <a:solidFill>
                  <a:srgbClr val="092540"/>
                </a:solidFill>
                <a:latin typeface="Microsoft YaHei"/>
              </a:rPr>
              <a:t>重复的只读检查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1874520"/>
            <a:ext cx="2578608" cy="3785616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20" b="0">
                <a:solidFill>
                  <a:srgbClr val="1E293B"/>
                </a:solidFill>
                <a:latin typeface="Microsoft YaHei"/>
              </a:rPr>
              <a:t>反复做 scan-pin 提取和 group 对比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20" b="0">
                <a:solidFill>
                  <a:srgbClr val="1E293B"/>
                </a:solidFill>
                <a:latin typeface="Microsoft YaHei"/>
              </a:rPr>
              <a:t>对应方式：结构化检查结果和可追踪报告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760720"/>
            <a:ext cx="1097280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843016"/>
            <a:ext cx="10652760" cy="38404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150"/>
              </a:spcAft>
            </a:pPr>
            <a:r>
              <a:rPr sz="1400" b="1">
                <a:solidFill>
                  <a:srgbClr val="092540"/>
                </a:solidFill>
                <a:latin typeface="Microsoft YaHei"/>
              </a:rPr>
              <a:t>这些是任务特征，而不是已量化的历史损失；自动化支持工程判断，而不替代工程判断。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223760" cy="32004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主要交付成果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29768"/>
            <a:ext cx="7406640" cy="18288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050" b="0">
                <a:solidFill>
                  <a:srgbClr val="DCE9F7"/>
                </a:solidFill>
                <a:latin typeface="Microsoft YaHei"/>
              </a:rPr>
              <a:t>每项交付都区分“已交付能力”和“预期价值”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C0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Ray Liu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0584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34440"/>
            <a:ext cx="5285232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234440"/>
            <a:ext cx="5285232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44168"/>
            <a:ext cx="5138928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380" b="1">
                <a:solidFill>
                  <a:srgbClr val="092540"/>
                </a:solidFill>
                <a:latin typeface="Microsoft YaHei"/>
              </a:rPr>
              <a:t>A. PCAR3 可视化 Web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691640"/>
            <a:ext cx="5102352" cy="164592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80" b="0">
                <a:solidFill>
                  <a:srgbClr val="1E293B"/>
                </a:solidFill>
                <a:latin typeface="Microsoft YaHei"/>
              </a:rPr>
              <a:t>已交付：多 PLB、Loop Partition、拖拽排序、状态持久化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80" b="0">
                <a:solidFill>
                  <a:srgbClr val="1E293B"/>
                </a:solidFill>
                <a:latin typeface="Microsoft YaHei"/>
              </a:rPr>
              <a:t>预期价值：减少手工结构整理与重复录入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234440"/>
            <a:ext cx="5285232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234440"/>
            <a:ext cx="5285232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344168"/>
            <a:ext cx="5138928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380" b="1">
                <a:solidFill>
                  <a:srgbClr val="092540"/>
                </a:solidFill>
                <a:latin typeface="Microsoft YaHei"/>
              </a:rPr>
              <a:t>B. 自然语言 Copilot 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691640"/>
            <a:ext cx="5102352" cy="164592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80" b="0">
                <a:solidFill>
                  <a:srgbClr val="1E293B"/>
                </a:solidFill>
                <a:latin typeface="Microsoft YaHei"/>
              </a:rPr>
              <a:t>已交付：生成 .pcar；可选解析 Pattern、提交构建、轮询状态并检查真实 Pat 输出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80" b="0">
                <a:solidFill>
                  <a:srgbClr val="1E293B"/>
                </a:solidFill>
                <a:latin typeface="Microsoft YaHei"/>
              </a:rPr>
              <a:t>边界：构建依赖合适环境与访问权限；仅代码生成不依赖构建环境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76472"/>
            <a:ext cx="5285232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776472"/>
            <a:ext cx="5285232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86200"/>
            <a:ext cx="5138928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380" b="1">
                <a:solidFill>
                  <a:srgbClr val="092540"/>
                </a:solidFill>
                <a:latin typeface="Microsoft YaHei"/>
              </a:rPr>
              <a:t>C. DVS CLI / 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233672"/>
            <a:ext cx="5102352" cy="164592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80" b="0">
                <a:solidFill>
                  <a:srgbClr val="1E293B"/>
                </a:solidFill>
                <a:latin typeface="Microsoft YaHei"/>
              </a:rPr>
              <a:t>已交付：转换预期 16 个 trigger 块，支持 CCD / IOD / DRD 与 .stil / .stil.gz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80" b="0">
                <a:solidFill>
                  <a:srgbClr val="1E293B"/>
                </a:solidFill>
                <a:latin typeface="Microsoft YaHei"/>
              </a:rPr>
              <a:t>预期价值：让重复编辑变成规则一致的文件处理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776472"/>
            <a:ext cx="5285232" cy="21762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3776472"/>
            <a:ext cx="5285232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3886200"/>
            <a:ext cx="5138928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380" b="1">
                <a:solidFill>
                  <a:srgbClr val="092540"/>
                </a:solidFill>
                <a:latin typeface="Microsoft YaHei"/>
              </a:rPr>
              <a:t>D. Scan Pin CLI /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233672"/>
            <a:ext cx="5102352" cy="164592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80" b="0">
                <a:solidFill>
                  <a:srgbClr val="1E293B"/>
                </a:solidFill>
                <a:latin typeface="Microsoft YaHei"/>
              </a:rPr>
              <a:t>已交付：提取 ScanIn / ScanOut、标准化名称、检查 allowed group union、输出含链名/行号/匹配组的 JSON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80" b="0">
                <a:solidFill>
                  <a:srgbClr val="1E293B"/>
                </a:solidFill>
                <a:latin typeface="Microsoft YaHei"/>
              </a:rPr>
              <a:t>预期价值：提供可追踪的只读检查结果，便于人工复核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223760" cy="32004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质量与风险控制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29768"/>
            <a:ext cx="7406640" cy="18288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050" b="0">
                <a:solidFill>
                  <a:srgbClr val="DCE9F7"/>
                </a:solidFill>
                <a:latin typeface="Microsoft YaHei"/>
              </a:rPr>
              <a:t>强调输入保护、产物核对和边界说明，而不是过度承诺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C0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Ray Liu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0584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63040"/>
            <a:ext cx="2761488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63040"/>
            <a:ext cx="2761488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72768"/>
            <a:ext cx="2615184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380" b="1">
                <a:solidFill>
                  <a:srgbClr val="092540"/>
                </a:solidFill>
                <a:latin typeface="Microsoft YaHei"/>
              </a:rPr>
              <a:t>保护输入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920240"/>
            <a:ext cx="2578608" cy="353872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90" b="0">
                <a:solidFill>
                  <a:srgbClr val="1E293B"/>
                </a:solidFill>
                <a:latin typeface="Microsoft YaHei"/>
              </a:rPr>
              <a:t>DVS 单独输出新文件，不覆盖源文件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90" b="0">
                <a:solidFill>
                  <a:srgbClr val="1E293B"/>
                </a:solidFill>
                <a:latin typeface="Microsoft YaHei"/>
              </a:rPr>
              <a:t>支持 dry-run，并拒绝异常、重复处理或会覆盖源文件的输入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95928" y="1463040"/>
            <a:ext cx="2761488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95928" y="1463040"/>
            <a:ext cx="2761488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1572768"/>
            <a:ext cx="2615184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380" b="1">
                <a:solidFill>
                  <a:srgbClr val="092540"/>
                </a:solidFill>
                <a:latin typeface="Microsoft YaHei"/>
              </a:rPr>
              <a:t>核对产物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1920240"/>
            <a:ext cx="2578608" cy="353872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90" b="0">
                <a:solidFill>
                  <a:srgbClr val="1E293B"/>
                </a:solidFill>
                <a:latin typeface="Microsoft YaHei"/>
              </a:rPr>
              <a:t>PList 关注真实 Pat 内容，而不仅是任务完成状态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90" b="0">
                <a:solidFill>
                  <a:srgbClr val="1E293B"/>
                </a:solidFill>
                <a:latin typeface="Microsoft YaHei"/>
              </a:rPr>
              <a:t>Scan pin 检查输出链名、行号和匹配组，便于追踪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3488" y="1463040"/>
            <a:ext cx="2761488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33488" y="1463040"/>
            <a:ext cx="2761488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572768"/>
            <a:ext cx="2615184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380" b="1">
                <a:solidFill>
                  <a:srgbClr val="092540"/>
                </a:solidFill>
                <a:latin typeface="Microsoft YaHei"/>
              </a:rPr>
              <a:t>明确边界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8" y="1920240"/>
            <a:ext cx="2578608" cy="353872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90" b="0">
                <a:solidFill>
                  <a:srgbClr val="1E293B"/>
                </a:solidFill>
                <a:latin typeface="Microsoft YaHei"/>
              </a:rPr>
              <a:t>Pin PASS 只代表属于允许 group union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090" b="0">
                <a:solidFill>
                  <a:srgbClr val="1E293B"/>
                </a:solidFill>
                <a:latin typeface="Microsoft YaHei"/>
              </a:rPr>
              <a:t>不代表方向、时序、电气正确性或 tester readiness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96128"/>
            <a:ext cx="10835640" cy="658368"/>
          </a:xfrm>
          <a:prstGeom prst="roundRect">
            <a:avLst/>
          </a:prstGeom>
          <a:solidFill>
            <a:srgbClr val="F1F6FC"/>
          </a:solidFill>
          <a:ln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687568"/>
            <a:ext cx="10515600" cy="42062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150"/>
              </a:spcAft>
            </a:pPr>
            <a:r>
              <a:rPr sz="1220" b="0">
                <a:solidFill>
                  <a:srgbClr val="092540"/>
                </a:solidFill>
                <a:latin typeface="Microsoft YaHei"/>
              </a:rPr>
              <a:t>不宣称零缺陷或生产认证；最终接收与异常处置仍由人工负责。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223760" cy="32004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业务价值与衡量方式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29768"/>
            <a:ext cx="7406640" cy="18288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050" b="0">
                <a:solidFill>
                  <a:srgbClr val="DCE9F7"/>
                </a:solidFill>
                <a:latin typeface="Microsoft YaHei"/>
              </a:rPr>
              <a:t>先定义测量口径，再讨论是否具备推广价值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C0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Ray Liu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0584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80160"/>
          <a:ext cx="108356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880360"/>
                <a:gridCol w="6355080"/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09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FFFFFF"/>
                          </a:solidFill>
                          <a:latin typeface="Microsoft YaHei"/>
                        </a:rPr>
                        <a:t>建议指标</a:t>
                      </a:r>
                    </a:p>
                  </a:txBody>
                  <a:tcPr>
                    <a:solidFill>
                      <a:srgbClr val="09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20" b="1">
                          <a:solidFill>
                            <a:srgbClr val="FFFFFF"/>
                          </a:solidFill>
                          <a:latin typeface="Microsoft YaHei"/>
                        </a:rPr>
                        <a:t>评估方式</a:t>
                      </a:r>
                    </a:p>
                  </a:txBody>
                  <a:tcPr>
                    <a:solidFill>
                      <a:srgbClr val="092540"/>
                    </a:solidFill>
                  </a:tcPr>
                </a:tc>
              </a:tr>
              <a:tr h="868680"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同类任务的人工作业时间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比较等价的人工/工具流程，包含准备、复核、纠错；机器等待单独记录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质量</a:t>
                      </a:r>
                    </a:p>
                  </a:txBody>
                  <a:tcPr>
                    <a:solidFill>
                      <a:srgbClr val="E4EEF8"/>
                    </a:solidFill>
                  </a:tcPr>
                </a:tc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返工与评审发现</a:t>
                      </a:r>
                    </a:p>
                  </a:txBody>
                  <a:tcPr>
                    <a:solidFill>
                      <a:srgbClr val="E4EEF8"/>
                    </a:solidFill>
                  </a:tcPr>
                </a:tc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跟踪遗漏、误报、修正原因，而不只看是否生成成功</a:t>
                      </a:r>
                    </a:p>
                  </a:txBody>
                  <a:tcPr>
                    <a:solidFill>
                      <a:srgbClr val="E4EEF8"/>
                    </a:solidFill>
                  </a:tcPr>
                </a:tc>
              </a:tr>
              <a:tr h="868680"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实际使用频次 / 使用者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区分作者本人使用与独立团队使用，再判断可推广性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成本</a:t>
                      </a:r>
                    </a:p>
                  </a:txBody>
                  <a:tcPr>
                    <a:solidFill>
                      <a:srgbClr val="E4EEF8"/>
                    </a:solidFill>
                  </a:tcPr>
                </a:tc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维护 / 培训 / 评审投入</a:t>
                      </a:r>
                    </a:p>
                  </a:txBody>
                  <a:tcPr>
                    <a:solidFill>
                      <a:srgbClr val="E4EEF8"/>
                    </a:solidFill>
                  </a:tcPr>
                </a:tc>
                <a:tc>
                  <a:txBody>
                    <a:bodyPr wrap="square" lIns="73152" rIns="45720" bIns="27432"/>
                    <a:lstStyle/>
                    <a:p>
                      <a:pPr algn="l"/>
                      <a:r>
                        <a:rPr sz="1100">
                          <a:solidFill>
                            <a:srgbClr val="1E293B"/>
                          </a:solidFill>
                          <a:latin typeface="Microsoft YaHei"/>
                        </a:rPr>
                        <a:t>把维护和培训成本与节省一起评估，判断净价值</a:t>
                      </a:r>
                    </a:p>
                  </a:txBody>
                  <a:tcPr>
                    <a:solidFill>
                      <a:srgbClr val="E4EE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94360" y="5779008"/>
            <a:ext cx="1097280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861304"/>
            <a:ext cx="10652760" cy="38404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150"/>
              </a:spcAft>
            </a:pPr>
            <a:r>
              <a:rPr sz="1400" b="1">
                <a:solidFill>
                  <a:srgbClr val="092540"/>
                </a:solidFill>
                <a:latin typeface="Microsoft YaHei"/>
              </a:rPr>
              <a:t>当前不宣称已测得的节省工时、改善百分比或 ROI。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9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7223760" cy="32004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下一步与所需支持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29768"/>
            <a:ext cx="7406640" cy="182880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050" b="0">
                <a:solidFill>
                  <a:srgbClr val="DCE9F7"/>
                </a:solidFill>
                <a:latin typeface="Microsoft YaHei"/>
              </a:rPr>
              <a:t>建议的小范围试点方案：先验证，再扩展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8288"/>
          </a:xfrm>
          <a:prstGeom prst="rect">
            <a:avLst/>
          </a:prstGeom>
          <a:solidFill>
            <a:srgbClr val="C0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384048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Ray Liu · 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005840" cy="164592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r">
              <a:lnSpc>
                <a:spcPct val="108000"/>
              </a:lnSpc>
              <a:spcAft>
                <a:spcPts val="150"/>
              </a:spcAft>
            </a:pPr>
            <a:r>
              <a:rPr sz="900" b="0">
                <a:solidFill>
                  <a:srgbClr val="5A6573"/>
                </a:solidFill>
                <a:latin typeface="Microsoft YaHe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54480"/>
            <a:ext cx="498348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554480"/>
            <a:ext cx="4983480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64208"/>
            <a:ext cx="4837176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500" b="1">
                <a:solidFill>
                  <a:srgbClr val="092540"/>
                </a:solidFill>
                <a:latin typeface="Microsoft YaHei"/>
              </a:rPr>
              <a:t>建议试点步骤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800600" cy="308152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40" b="0">
                <a:solidFill>
                  <a:srgbClr val="1E293B"/>
                </a:solidFill>
                <a:latin typeface="Microsoft YaHei"/>
              </a:rPr>
              <a:t>选择规则稳定、频率较高的试点任务，并指定试点负责人和验收负责人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40" b="0">
                <a:solidFill>
                  <a:srgbClr val="1E293B"/>
                </a:solidFill>
                <a:latin typeface="Microsoft YaHei"/>
              </a:rPr>
              <a:t>准备经过批准的合成或脱敏示例，避免使用专有客户数据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40" b="0">
                <a:solidFill>
                  <a:srgbClr val="1E293B"/>
                </a:solidFill>
                <a:latin typeface="Microsoft YaHei"/>
              </a:rPr>
              <a:t>建立人工/工具基线，以及异常、复核和返工记录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40" b="0">
                <a:solidFill>
                  <a:srgbClr val="1E293B"/>
                </a:solidFill>
                <a:latin typeface="Microsoft YaHei"/>
              </a:rPr>
              <a:t>按约定验收标准评估效率、质量和维护成本，再决定是否扩展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498348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4983480" cy="73152"/>
          </a:xfrm>
          <a:prstGeom prst="rect">
            <a:avLst/>
          </a:prstGeom>
          <a:solidFill>
            <a:srgbClr val="166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664208"/>
            <a:ext cx="4837176" cy="329184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150"/>
              </a:spcAft>
            </a:pPr>
            <a:r>
              <a:rPr sz="1500" b="1">
                <a:solidFill>
                  <a:srgbClr val="092540"/>
                </a:solidFill>
                <a:latin typeface="Microsoft YaHei"/>
              </a:rPr>
              <a:t>需要的管理支持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4800600" cy="308152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40" b="0">
                <a:solidFill>
                  <a:srgbClr val="1E293B"/>
                </a:solidFill>
                <a:latin typeface="Microsoft YaHei"/>
              </a:rPr>
              <a:t>确认试点参与人员和业务窗口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40" b="0">
                <a:solidFill>
                  <a:srgbClr val="1E293B"/>
                </a:solidFill>
                <a:latin typeface="Microsoft YaHei"/>
              </a:rPr>
              <a:t>批准可用于演示和验证的样例范围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40" b="0">
                <a:solidFill>
                  <a:srgbClr val="1E293B"/>
                </a:solidFill>
                <a:latin typeface="Microsoft YaHei"/>
              </a:rPr>
              <a:t>安排结果复盘，统一判断是否进入下一阶段</a:t>
            </a:r>
          </a:p>
          <a:p>
            <a:pPr algn="l">
              <a:lnSpc>
                <a:spcPct val="103000"/>
              </a:lnSpc>
              <a:spcAft>
                <a:spcPts val="150"/>
              </a:spcAft>
            </a:pPr>
            <a:r>
              <a:rPr sz="1140" b="0">
                <a:solidFill>
                  <a:srgbClr val="1E293B"/>
                </a:solidFill>
                <a:latin typeface="Microsoft YaHei"/>
              </a:rPr>
              <a:t>在扩展前明确哪些结论需要独立团队复核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532120"/>
            <a:ext cx="1097280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C0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614416"/>
            <a:ext cx="10652760" cy="384048"/>
          </a:xfrm>
          <a:prstGeom prst="rect">
            <a:avLst/>
          </a:prstGeom>
          <a:noFill/>
        </p:spPr>
        <p:txBody>
          <a:bodyPr wrap="square" anchor="t" rIns="73152" tIns="36576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150"/>
              </a:spcAft>
            </a:pPr>
            <a:r>
              <a:rPr sz="1400" b="1">
                <a:solidFill>
                  <a:srgbClr val="092540"/>
                </a:solidFill>
                <a:latin typeface="Microsoft YaHei"/>
              </a:rPr>
              <a:t>这是建议方案，尚未批准；扩展应建立在试点结果和约定验收标准之上。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测试工程自动化：交付成果与业务价值</dc:title>
  <dc:subject>MiniOps management presentation</dc:subject>
  <dc:creator>Ray Liu</dc:creator>
  <cp:keywords/>
  <dc:description>Generated by make_miniops_ppt.py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Presentation</cp:category>
</cp:coreProperties>
</file>